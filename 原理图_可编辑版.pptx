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000000" cy="41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360000"/>
            <a:ext cx="17640000" cy="16200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317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600" b="1">
                <a:solidFill>
                  <a:srgbClr val="1A5C8C"/>
                </a:solidFill>
              </a:rPr>
              <a:t>空海平台多节点信号级高效相参合成机理模型  原理框图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2340000"/>
            <a:ext cx="5220000" cy="720000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1A5C8C"/>
                </a:solidFill>
              </a:rPr>
              <a:t>模  型  输  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0000" y="2340000"/>
            <a:ext cx="6480000" cy="720000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1A5C8C"/>
                </a:solidFill>
              </a:rPr>
              <a:t>处  理  流  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13500000" y="2340000"/>
            <a:ext cx="3780000" cy="720000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800" b="1">
                <a:solidFill>
                  <a:srgbClr val="1A5C8C"/>
                </a:solidFill>
              </a:rPr>
              <a:t>模型输出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3420000"/>
            <a:ext cx="5220000" cy="19800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海面节点配置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Sea1 / Sea2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位置 · 速度 · 垂荡运动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5688000"/>
            <a:ext cx="5220000" cy="19800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空中节点配置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Air1 / Air2 / Air3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位置 · 速度 · 类型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7956000"/>
            <a:ext cx="5220000" cy="21600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雷达系统参数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fc=500 MHz   B=2 MHz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Nsc=1024  Nc=64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PRI=140 µs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10404000"/>
            <a:ext cx="5220000" cy="19800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目标场景参数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位置 · 速度 · RCS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（含垂荡运动）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2672000"/>
            <a:ext cx="5220000" cy="19800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杂波与噪声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K分布（ν=2, σ₀=0.01）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高斯白噪声 σ_n=8×10⁻⁴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14940000"/>
            <a:ext cx="5220000" cy="2160000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同步误差参数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ΔT · ΔF · ΔΦ · ΔPos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ΔAmp · ΔPhCh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（4种误差模式）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7388000"/>
            <a:ext cx="5220000" cy="19800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CFAR检测参数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Pfa=1×10⁻³  G=2  T=4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OS-CFAR 有序统计量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3420000"/>
            <a:ext cx="6480000" cy="2700000"/>
          </a:xfrm>
          <a:prstGeom prst="roundRect">
            <a:avLst>
              <a:gd name="adj" fmla="val 16667"/>
            </a:avLst>
          </a:prstGeom>
          <a:solidFill>
            <a:srgbClr val="D5F5E3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① OFDM 发射符号生成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QPSK 调制  频率交织分配：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  海面：奇/偶子载波各半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  空中：三节点各占 1/3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6552000"/>
            <a:ext cx="6480000" cy="3960000"/>
          </a:xfrm>
          <a:prstGeom prst="roundRect">
            <a:avLst>
              <a:gd name="adj" fmla="val 16667"/>
            </a:avLst>
          </a:prstGeom>
          <a:solidFill>
            <a:srgbClr val="FDEBD0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② 多链路信号处理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（逐 Tx-Rx 对循环）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· 双基地回波  时延τ + 多普勒fd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· 幅相误差注入  K分布杂波叠加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· 匹配滤波  Z=Y⊙conj(X)·IFFT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· MTI 对消（1/2/3阶）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· 距离-多普勒FFT  Hann窗+fftshift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0944000"/>
            <a:ext cx="6480000" cy="1980000"/>
          </a:xfrm>
          <a:prstGeom prst="roundRect">
            <a:avLst>
              <a:gd name="adj" fmla="val 16667"/>
            </a:avLst>
          </a:prstGeom>
          <a:solidFill>
            <a:srgbClr val="FDEBD0"/>
          </a:solidFill>
          <a:ln w="317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</a:rPr>
              <a:t>相参 RD 图叠加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</a:rPr>
              <a:t>coh_RD += RD_link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</a:rPr>
              <a:t>（全链路相参累积）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13356000"/>
            <a:ext cx="6480000" cy="2160000"/>
          </a:xfrm>
          <a:prstGeom prst="roundRect">
            <a:avLst>
              <a:gd name="adj" fmla="val 16667"/>
            </a:avLst>
          </a:prstGeom>
          <a:solidFill>
            <a:srgbClr val="F9EBEA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③ OS-CFAR 2D 检测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距离-多普勒平面  有序统计量自适应门限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→ 候选点 (r_meas, v_meas)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15948000"/>
            <a:ext cx="6480000" cy="2160000"/>
          </a:xfrm>
          <a:prstGeom prst="roundRect">
            <a:avLst>
              <a:gd name="adj" fmla="val 16667"/>
            </a:avLst>
          </a:prstGeom>
          <a:solidFill>
            <a:srgbClr val="F9EBEA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④ 多链路 OTDA 定位 + 一致性确认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≥ 50% 链路支持 → 确认点迹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→ 确认点迹 (pos, vel)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18540000"/>
            <a:ext cx="6480000" cy="1980000"/>
          </a:xfrm>
          <a:prstGeom prst="roundRect">
            <a:avLst>
              <a:gd name="adj" fmla="val 16667"/>
            </a:avLst>
          </a:prstGeom>
          <a:solidFill>
            <a:srgbClr val="F9EBEA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⑤ 子系统非相干融合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海面子系统 + 空中子系统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→ 位置关联（5 km 门限）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20952000"/>
            <a:ext cx="6480000" cy="3060000"/>
          </a:xfrm>
          <a:prstGeom prst="roundRect">
            <a:avLst>
              <a:gd name="adj" fmla="val 16667"/>
            </a:avLst>
          </a:prstGeom>
          <a:solidFill>
            <a:srgbClr val="EAF0FB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⑥ Kalman 跟踪器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/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CV 匀速运动预测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量测更新（pos + vel 联合）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航迹起始 / 确认 / 撤销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相干增益估计：4.5 ~ 11 dB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40000" y="6120000"/>
            <a:ext cx="0" cy="432000"/>
          </a:xfrm>
          <a:prstGeom prst="line">
            <a:avLst/>
          </a:prstGeom>
          <a:ln w="2794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540000" y="10512000"/>
            <a:ext cx="0" cy="432000"/>
          </a:xfrm>
          <a:prstGeom prst="line">
            <a:avLst/>
          </a:prstGeom>
          <a:ln w="2794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40000" y="12924000"/>
            <a:ext cx="0" cy="432000"/>
          </a:xfrm>
          <a:prstGeom prst="line">
            <a:avLst/>
          </a:prstGeom>
          <a:ln w="2794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40000" y="15516000"/>
            <a:ext cx="0" cy="432000"/>
          </a:xfrm>
          <a:prstGeom prst="line">
            <a:avLst/>
          </a:prstGeom>
          <a:ln w="2794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40000" y="18108000"/>
            <a:ext cx="0" cy="432000"/>
          </a:xfrm>
          <a:prstGeom prst="line">
            <a:avLst/>
          </a:prstGeom>
          <a:ln w="2794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40000" y="20520000"/>
            <a:ext cx="0" cy="432000"/>
          </a:xfrm>
          <a:prstGeom prst="line">
            <a:avLst/>
          </a:prstGeom>
          <a:ln w="2794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3500000" y="3420000"/>
            <a:ext cx="3780000" cy="19800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距离-多普勒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RD 谱图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500000" y="5760000"/>
            <a:ext cx="3780000" cy="19800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目标检测结果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位置 / 速度 / SNR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500000" y="8100000"/>
            <a:ext cx="3780000" cy="19800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航迹状态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pos / vel / 协方差P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500000" y="10440000"/>
            <a:ext cx="3780000" cy="19800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相干增益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coh_gain_dB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500000" y="12780000"/>
            <a:ext cx="3780000" cy="19800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跟踪误差时序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rt_err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500000" y="15120000"/>
            <a:ext cx="3780000" cy="19800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仿真日志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0">
                <a:solidFill>
                  <a:srgbClr val="000000"/>
                </a:solidFill>
              </a:rPr>
              <a:t>sim_log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80000" y="4410000"/>
            <a:ext cx="720000" cy="1223999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580000" y="4905000"/>
            <a:ext cx="720000" cy="1773000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80000" y="9036000"/>
            <a:ext cx="720000" cy="763200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580000" y="8848800"/>
            <a:ext cx="720000" cy="2545200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580000" y="7898399"/>
            <a:ext cx="720000" cy="5763601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580000" y="14436000"/>
            <a:ext cx="720000" cy="3942000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580000" y="7027200"/>
            <a:ext cx="720000" cy="8992800"/>
          </a:xfrm>
          <a:prstGeom prst="line">
            <a:avLst/>
          </a:prstGeom>
          <a:ln w="25400">
            <a:solidFill>
              <a:srgbClr val="C0392B"/>
            </a:solidFill>
            <a:prstDash val="dash"/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00000" y="6487200"/>
            <a:ext cx="16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C0392B"/>
                </a:solidFill>
              </a:rPr>
              <a:t>误差注入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2780000" y="4410000"/>
            <a:ext cx="720000" cy="6102000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2780000" y="6750000"/>
            <a:ext cx="720000" cy="7686000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2780000" y="9090000"/>
            <a:ext cx="720000" cy="14922000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2780000" y="11430000"/>
            <a:ext cx="720000" cy="11664000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2780000" y="13770000"/>
            <a:ext cx="720000" cy="8406000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2780000" y="16110000"/>
            <a:ext cx="720000" cy="4842000"/>
          </a:xfrm>
          <a:prstGeom prst="line">
            <a:avLst/>
          </a:prstGeom>
          <a:ln w="22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60000" y="24912000"/>
            <a:ext cx="2342571" cy="1007999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</a:rPr>
              <a:t>模型输入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28571" y="24912000"/>
            <a:ext cx="2342571" cy="1007999"/>
          </a:xfrm>
          <a:prstGeom prst="roundRect">
            <a:avLst>
              <a:gd name="adj" fmla="val 16667"/>
            </a:avLst>
          </a:prstGeom>
          <a:solidFill>
            <a:srgbClr val="D5F5E3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</a:rPr>
              <a:t>发射生成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97142" y="24912000"/>
            <a:ext cx="2342571" cy="1007999"/>
          </a:xfrm>
          <a:prstGeom prst="roundRect">
            <a:avLst>
              <a:gd name="adj" fmla="val 16667"/>
            </a:avLst>
          </a:prstGeom>
          <a:solidFill>
            <a:srgbClr val="FDEBD0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</a:rPr>
              <a:t>相参合成核心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65714" y="24912000"/>
            <a:ext cx="2342571" cy="1007999"/>
          </a:xfrm>
          <a:prstGeom prst="roundRect">
            <a:avLst>
              <a:gd name="adj" fmla="val 16667"/>
            </a:avLst>
          </a:prstGeom>
          <a:solidFill>
            <a:srgbClr val="F9EBEA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</a:rPr>
              <a:t>检测/定位/融合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34285" y="24912000"/>
            <a:ext cx="2342571" cy="1007999"/>
          </a:xfrm>
          <a:prstGeom prst="roundRect">
            <a:avLst>
              <a:gd name="adj" fmla="val 16667"/>
            </a:avLst>
          </a:prstGeom>
          <a:solidFill>
            <a:srgbClr val="EAF0FB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</a:rPr>
              <a:t>Kalman跟踪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702857" y="24912000"/>
            <a:ext cx="2342571" cy="1007999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</a:rPr>
              <a:t>模型输出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171428" y="24912000"/>
            <a:ext cx="2342571" cy="1007999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</a:rPr>
              <a:t>误差配置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