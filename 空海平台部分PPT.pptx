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  <p:cmAuthor id="2" name="Zhihui Li" initials="ZL" lastIdx="0" clrIdx="1"/>
  <p:cmAuthor id="3" name="振中 郝" initials="振郝" lastIdx="0" clrIdx="2"/>
  <p:cmAuthor id="4" name="子扬" initials="子扬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3BE4-5E7E-4CD9-B138-B2732FAAA7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3BE4-5E7E-4CD9-B138-B2732FAAA7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800" kern="100" dirty="0">
              <a:effectLst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3BE4-5E7E-4CD9-B138-B2732FAAA7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3BE4-5E7E-4CD9-B138-B2732FAAA7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DA3BE4-5E7E-4CD9-B138-B2732FAAA7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emf"/><Relationship Id="rId3" Type="http://schemas.openxmlformats.org/officeDocument/2006/relationships/tags" Target="../tags/tag64.xml"/><Relationship Id="rId2" Type="http://schemas.openxmlformats.org/officeDocument/2006/relationships/image" Target="../media/image2.emf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66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Relationship Id="rId3" Type="http://schemas.openxmlformats.org/officeDocument/2006/relationships/tags" Target="../tags/tag65.xml"/><Relationship Id="rId2" Type="http://schemas.openxmlformats.org/officeDocument/2006/relationships/image" Target="../media/image4.wmf"/><Relationship Id="rId10" Type="http://schemas.openxmlformats.org/officeDocument/2006/relationships/notesSlide" Target="../notesSlides/notesSlide3.xml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emf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7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灯片编号占位符 1"/>
          <p:cNvSpPr txBox="1"/>
          <p:nvPr/>
        </p:nvSpPr>
        <p:spPr>
          <a:xfrm>
            <a:off x="9448800" y="65030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AA9B82-FE34-4FC6-ACE0-6F7D50795A65}" type="slidenum">
              <a:rPr lang="zh-CN" altLang="en-US" smtClean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25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6" name="组合 25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27" name="矩形 26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8" name="矩形 27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9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461521" y="812499"/>
            <a:ext cx="4339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空海平台多节点高效相参合成机理与方法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8067" y="1564673"/>
            <a:ext cx="11934318" cy="8744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面向专项的空海异构平台对空、对海探测场景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，分析传统空海协同局限性，研究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波段空海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分布式节点多层级融合、空海节点融合处理等内容，分析空海平台相参合成效能影响因素与工程边界。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8067" y="1185088"/>
            <a:ext cx="3486714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4.1. </a:t>
            </a:r>
            <a:r>
              <a:rPr lang="zh-CN" altLang="en-US" dirty="0">
                <a:sym typeface="+mn-ea"/>
              </a:rPr>
              <a:t>总体研究方案概述</a:t>
            </a:r>
            <a:endParaRPr lang="zh-CN" altLang="en-US" dirty="0"/>
          </a:p>
        </p:txBody>
      </p:sp>
      <p:sp>
        <p:nvSpPr>
          <p:cNvPr id="17" name="箭头: 右 16"/>
          <p:cNvSpPr/>
          <p:nvPr/>
        </p:nvSpPr>
        <p:spPr>
          <a:xfrm>
            <a:off x="5251411" y="2805326"/>
            <a:ext cx="716491" cy="257908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967902" y="2656949"/>
            <a:ext cx="2905859" cy="6591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提出基于相参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非相参多级混合的空海高效合成技术路线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025051" y="3625520"/>
            <a:ext cx="2905859" cy="51111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形成大时空跨度空海节点空间配准模型模型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箭头: 右 36"/>
          <p:cNvSpPr/>
          <p:nvPr/>
        </p:nvSpPr>
        <p:spPr>
          <a:xfrm>
            <a:off x="5251411" y="3752125"/>
            <a:ext cx="773640" cy="257908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6025052" y="4642996"/>
            <a:ext cx="2905859" cy="51111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形成空海异构多级融合处理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025052" y="5731258"/>
            <a:ext cx="2905859" cy="60945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形成空海异构平台高效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协同相参探测约束边界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箭头: 右 40"/>
          <p:cNvSpPr/>
          <p:nvPr/>
        </p:nvSpPr>
        <p:spPr>
          <a:xfrm>
            <a:off x="5251411" y="4785158"/>
            <a:ext cx="773640" cy="257908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/>
          <p:cNvSpPr/>
          <p:nvPr/>
        </p:nvSpPr>
        <p:spPr>
          <a:xfrm>
            <a:off x="5251412" y="5894036"/>
            <a:ext cx="773640" cy="257908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-441960" y="285353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018990" y="2670461"/>
          <a:ext cx="3232422" cy="3771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2" name="Visio" r:id="rId1" imgW="2072005" imgH="2416175" progId="Visio.Drawing.15">
                  <p:embed/>
                </p:oleObj>
              </mc:Choice>
              <mc:Fallback>
                <p:oleObj name="Visio" r:id="rId1" imgW="2072005" imgH="2416175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8990" y="2670461"/>
                        <a:ext cx="3232422" cy="37711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灯片编号占位符 1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AA9B82-FE34-4FC6-ACE0-6F7D50795A65}" type="slidenum">
              <a:rPr lang="zh-CN" altLang="en-US" smtClean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57838" y="2363972"/>
            <a:ext cx="5099627" cy="37392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"/>
            </p:custDataLst>
          </p:nvPr>
        </p:nvSpPr>
        <p:spPr>
          <a:xfrm>
            <a:off x="850022" y="5665343"/>
            <a:ext cx="3467616" cy="33855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传统空海异构多节点非相参融合流程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800231" y="4959785"/>
            <a:ext cx="12807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5×5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</a:rPr>
              <a:t>25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条路径非相参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箭头: 右 30"/>
          <p:cNvSpPr/>
          <p:nvPr/>
        </p:nvSpPr>
        <p:spPr>
          <a:xfrm>
            <a:off x="5257461" y="4062123"/>
            <a:ext cx="478525" cy="42989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5750913" y="2371351"/>
            <a:ext cx="6166453" cy="37392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8917" y="6231379"/>
            <a:ext cx="11983683" cy="54610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just">
              <a:lnSpc>
                <a:spcPct val="125000"/>
              </a:lnSpc>
              <a:buClr>
                <a:schemeClr val="accent1"/>
              </a:buClr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满足相参条件的路径相参融合，不满足条件的路径非相参融合，最大限度地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提高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空海异构节点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信号合成的效率。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2" name="组合 31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34" name="矩形 33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35" name="矩形 34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6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461521" y="812499"/>
            <a:ext cx="4339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空海平台多节点高效相参合成机理与方法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0480" y="1191185"/>
            <a:ext cx="5700433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4.2. </a:t>
            </a:r>
            <a:r>
              <a:rPr lang="zh-CN" altLang="en-US" dirty="0">
                <a:sym typeface="+mn-ea"/>
              </a:rPr>
              <a:t>空海传统协同探测方法局限性与创新思路</a:t>
            </a:r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-1" y="1541197"/>
            <a:ext cx="12141521" cy="7774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针对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传统非相参融合方法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下空海异构平台协同探测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威力难以最大化的问题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提出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一种“同构节点内相参合成、异构平台间非相参融合”的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多级信号级合成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技术路线。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96" y="2482329"/>
            <a:ext cx="4951701" cy="2895589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3"/>
            </p:custDataLst>
          </p:nvPr>
        </p:nvSpPr>
        <p:spPr>
          <a:xfrm>
            <a:off x="6953448" y="5665343"/>
            <a:ext cx="2852063" cy="33855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空海异构两级信号融合流程图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805511" y="4973869"/>
            <a:ext cx="1764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同构平台路径相参、异构非相参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946" y="2413202"/>
            <a:ext cx="5960616" cy="31313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" name="灯片编号占位符 1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AA9B82-FE34-4FC6-ACE0-6F7D50795A65}" type="slidenum">
              <a:rPr lang="zh-CN" altLang="en-US" smtClean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8" name="组合 17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19" name="矩形 18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0" name="矩形 19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1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507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461521" y="812499"/>
            <a:ext cx="429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空海平台多节点高效相参合成机理与方法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0165" y="1191260"/>
            <a:ext cx="6463030" cy="368300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4.3. </a:t>
            </a:r>
            <a:r>
              <a:rPr lang="zh-CN" altLang="en-US" dirty="0">
                <a:sym typeface="+mn-ea"/>
              </a:rPr>
              <a:t>空海平台大时空跨度空间配准</a:t>
            </a:r>
            <a:endParaRPr lang="zh-CN" altLang="en-US" dirty="0">
              <a:sym typeface="+mn-ea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84452" y="2315656"/>
          <a:ext cx="3738463" cy="3077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5" name="Visio" r:id="rId1" imgW="1953260" imgH="1612900" progId="Visio.Drawing.15">
                  <p:embed/>
                </p:oleObj>
              </mc:Choice>
              <mc:Fallback>
                <p:oleObj name="Visio" r:id="rId1" imgW="1953260" imgH="1612900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52" y="2315656"/>
                        <a:ext cx="3738463" cy="30776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/>
          <p:cNvSpPr/>
          <p:nvPr/>
        </p:nvSpPr>
        <p:spPr>
          <a:xfrm>
            <a:off x="184731" y="2196517"/>
            <a:ext cx="4079073" cy="37392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308252" y="5495243"/>
            <a:ext cx="3877985" cy="33855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不同目标在不同空海路径空间失配示意图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8" name="对象 14"/>
          <p:cNvGraphicFramePr>
            <a:graphicFrameLocks noChangeAspect="1"/>
          </p:cNvGraphicFramePr>
          <p:nvPr/>
        </p:nvGraphicFramePr>
        <p:xfrm>
          <a:off x="4743865" y="2343619"/>
          <a:ext cx="3465633" cy="2879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26" name="Visio" r:id="rId4" imgW="8229600" imgH="6794500" progId="Visio.Drawing.15">
                  <p:embed/>
                </p:oleObj>
              </mc:Choice>
              <mc:Fallback>
                <p:oleObj name="Visio" r:id="rId4" imgW="8229600" imgH="6794500" progId="Visio.Drawing.15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865" y="2343619"/>
                        <a:ext cx="3465633" cy="2879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图片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30" y="2974606"/>
            <a:ext cx="3649790" cy="2380298"/>
          </a:xfrm>
          <a:prstGeom prst="rect">
            <a:avLst/>
          </a:prstGeom>
          <a:ln w="22225">
            <a:solidFill>
              <a:srgbClr val="FF0000"/>
            </a:solidFill>
          </a:ln>
        </p:spPr>
      </p:pic>
      <p:sp>
        <p:nvSpPr>
          <p:cNvPr id="33" name="矩形 32"/>
          <p:cNvSpPr/>
          <p:nvPr/>
        </p:nvSpPr>
        <p:spPr>
          <a:xfrm>
            <a:off x="4743865" y="2196516"/>
            <a:ext cx="7239774" cy="37392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052211" y="2512821"/>
            <a:ext cx="36627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空间几何关联模型：</a:t>
            </a:r>
            <a:endParaRPr lang="zh-CN" altLang="en-US" b="1" dirty="0">
              <a:solidFill>
                <a:srgbClr val="2F25F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7"/>
            </p:custDataLst>
          </p:nvPr>
        </p:nvSpPr>
        <p:spPr>
          <a:xfrm>
            <a:off x="5344006" y="5495243"/>
            <a:ext cx="2031325" cy="338554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空间几何关联示意图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箭头: 右 35"/>
          <p:cNvSpPr/>
          <p:nvPr/>
        </p:nvSpPr>
        <p:spPr>
          <a:xfrm>
            <a:off x="4265340" y="3851190"/>
            <a:ext cx="478525" cy="42989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-1" y="1541197"/>
            <a:ext cx="12141521" cy="4173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针对空海平台大时空跨度场景下目标空间失配问题，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提出基于空间几何关联的空海目标配准方法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78917" y="6231379"/>
            <a:ext cx="11983683" cy="54610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algn="ctr">
              <a:lnSpc>
                <a:spcPct val="125000"/>
              </a:lnSpc>
              <a:buClr>
                <a:schemeClr val="accent1"/>
              </a:buClr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目标：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实现同一目标在不同空海路径上关联配准。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1"/>
          <p:cNvSpPr txBox="1"/>
          <p:nvPr/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AA9B82-FE34-4FC6-ACE0-6F7D50795A65}" type="slidenum">
              <a:rPr lang="zh-CN" altLang="en-US" smtClean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2688783" y="5574099"/>
            <a:ext cx="3647152" cy="369332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空海异构两级信号融合全流程框图</a:t>
            </a:r>
            <a:endParaRPr lang="zh-CN" altLang="en-US" dirty="0"/>
          </a:p>
        </p:txBody>
      </p:sp>
      <p:sp>
        <p:nvSpPr>
          <p:cNvPr id="38" name="矩形 2"/>
          <p:cNvSpPr>
            <a:spLocks noChangeArrowheads="1"/>
          </p:cNvSpPr>
          <p:nvPr/>
        </p:nvSpPr>
        <p:spPr bwMode="auto">
          <a:xfrm>
            <a:off x="184731" y="6104964"/>
            <a:ext cx="11640820" cy="55626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no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algn="ctr"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目标：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同构收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/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发平台相参融合、异构收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/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发平台非相参多级融合，最大化提升目标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R-D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华文中宋" panose="02010600040101010101" pitchFamily="2" charset="-122"/>
                <a:sym typeface="+mn-ea"/>
              </a:rPr>
              <a:t>图的检测性能。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华文中宋" panose="02010600040101010101" pitchFamily="2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5" y="2116830"/>
            <a:ext cx="8539153" cy="3457269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9554682" y="4491197"/>
            <a:ext cx="2086610" cy="643255"/>
          </a:xfrm>
          <a:prstGeom prst="rect">
            <a:avLst/>
          </a:prstGeom>
          <a:solidFill>
            <a:srgbClr val="FFFF00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zh-CN" altLang="en-US" b="1" kern="1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9135581" y="2818835"/>
            <a:ext cx="2964054" cy="3787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相参融合，补偿空间相位</a:t>
            </a:r>
            <a:r>
              <a:rPr lang="el-GR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ϕ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6" name="对象 25"/>
          <p:cNvGraphicFramePr/>
          <p:nvPr/>
        </p:nvGraphicFramePr>
        <p:xfrm>
          <a:off x="9818207" y="4565014"/>
          <a:ext cx="15732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9" name="Equation" r:id="rId3" imgW="38709600" imgH="10363200" progId="Equation.DSMT4">
                  <p:embed/>
                </p:oleObj>
              </mc:Choice>
              <mc:Fallback>
                <p:oleObj name="Equation" r:id="rId3" imgW="38709600" imgH="10363200" progId="Equation.DSMT4">
                  <p:embed/>
                  <p:pic>
                    <p:nvPicPr>
                      <p:cNvPr id="0" name="对象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18207" y="4565014"/>
                        <a:ext cx="1573213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/>
          <p:cNvSpPr txBox="1"/>
          <p:nvPr/>
        </p:nvSpPr>
        <p:spPr>
          <a:xfrm>
            <a:off x="9135581" y="4060066"/>
            <a:ext cx="1734185" cy="3787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非相参融合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9557730" y="3307117"/>
            <a:ext cx="2086610" cy="643255"/>
          </a:xfrm>
          <a:prstGeom prst="rect">
            <a:avLst/>
          </a:prstGeom>
          <a:solidFill>
            <a:srgbClr val="FFFF00"/>
          </a:solidFill>
          <a:ln w="25400"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>
              <a:defRPr/>
            </a:pPr>
            <a:endParaRPr lang="zh-CN" altLang="en-US" b="1" kern="1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9" name="对象 28"/>
          <p:cNvGraphicFramePr/>
          <p:nvPr/>
        </p:nvGraphicFramePr>
        <p:xfrm>
          <a:off x="9746008" y="3380336"/>
          <a:ext cx="17224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0" name="Equation" r:id="rId5" imgW="42367200" imgH="10363200" progId="Equation.DSMT4">
                  <p:embed/>
                </p:oleObj>
              </mc:Choice>
              <mc:Fallback>
                <p:oleObj name="Equation" r:id="rId5" imgW="42367200" imgH="10363200" progId="Equation.DSMT4">
                  <p:embed/>
                  <p:pic>
                    <p:nvPicPr>
                      <p:cNvPr id="0" name="对象 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746008" y="3380336"/>
                        <a:ext cx="1722437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46645" y="2065193"/>
            <a:ext cx="8663015" cy="391695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135581" y="2077325"/>
            <a:ext cx="3009774" cy="391695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/>
          <p:cNvSpPr/>
          <p:nvPr/>
        </p:nvSpPr>
        <p:spPr>
          <a:xfrm>
            <a:off x="8709660" y="3673388"/>
            <a:ext cx="422149" cy="429895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6" name="组合 35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37" name="矩形 36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39" name="矩形 38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0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5079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41" name="矩形 40"/>
          <p:cNvSpPr>
            <a:spLocks noChangeArrowheads="1"/>
          </p:cNvSpPr>
          <p:nvPr/>
        </p:nvSpPr>
        <p:spPr bwMode="auto">
          <a:xfrm>
            <a:off x="461521" y="812499"/>
            <a:ext cx="42976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空海平台多节点高效相参合成机理与方法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0165" y="1191260"/>
            <a:ext cx="6463030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4.4. </a:t>
            </a:r>
            <a:r>
              <a:rPr lang="zh-CN" altLang="en-US" dirty="0">
                <a:sym typeface="+mn-ea"/>
              </a:rPr>
              <a:t>空海异构平台多级融合方法设计</a:t>
            </a:r>
            <a:endParaRPr lang="zh-CN" altLang="en-US" dirty="0"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-1" y="1541197"/>
            <a:ext cx="12141521" cy="4173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针对空海异构平台积累效率最大化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的问题，基于正交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MIMO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体制构建多层级“相参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非相参”信号级融合检测模型。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3036"/>
            <a:ext cx="12192000" cy="17929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1"/>
          <p:cNvSpPr txBox="1"/>
          <p:nvPr/>
        </p:nvSpPr>
        <p:spPr>
          <a:xfrm>
            <a:off x="9392285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600" kern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AA9B82-FE34-4FC6-ACE0-6F7D50795A65}" type="slidenum">
              <a:rPr lang="zh-CN" altLang="en-US" smtClean="0">
                <a:ea typeface="黑体" panose="02010609060101010101" pitchFamily="49" charset="-122"/>
              </a:rPr>
            </a:fld>
            <a:endParaRPr lang="zh-CN" altLang="en-US" dirty="0">
              <a:ea typeface="黑体" panose="02010609060101010101" pitchFamily="49" charset="-122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0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3" name="组合 22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24" name="矩形 23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5" name="矩形 24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6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461521" y="812499"/>
            <a:ext cx="4339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空海平台多节点高效相参合成机理与方法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2349" y="1198460"/>
            <a:ext cx="5700433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4.5.</a:t>
            </a:r>
            <a:r>
              <a:rPr lang="zh-CN" altLang="en-US" dirty="0">
                <a:sym typeface="+mn-ea"/>
              </a:rPr>
              <a:t>空海平台多节点高效协同探测仿真验证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128841" y="1651716"/>
            <a:ext cx="11934318" cy="46546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仿真目的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面向专项“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空海异构平台多节点协同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” 场景，验证提出的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效能提升增量，分析所提方法在检测、定位、跟踪的性能，以及非理想因素对所提方法的影响，给出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空海异构平台多节点协同探测的约束条件与效能边界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仿真场景设计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0" name="表格 2"/>
          <p:cNvGraphicFramePr>
            <a:graphicFrameLocks noGrp="1"/>
          </p:cNvGraphicFramePr>
          <p:nvPr/>
        </p:nvGraphicFramePr>
        <p:xfrm>
          <a:off x="294974" y="4253791"/>
          <a:ext cx="11602052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308"/>
                <a:gridCol w="1227015"/>
                <a:gridCol w="929472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仿真用例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仿真内容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/>
                </a:tc>
              </a:tr>
              <a:tr h="123613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空海异构平台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①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理想条件下的空海异构协同性能分析（含检测跟踪定位，与传统体制对比，验证效能提升）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34825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②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理想条件下的不同路径数协同探测的性能分析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23613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③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非理性因素（同步误差、海面波动、空中姿态等）对影响分析 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2475"/>
            <a:ext cx="12192000" cy="19050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1" name="Rectangle 4"/>
          <p:cNvSpPr/>
          <p:nvPr/>
        </p:nvSpPr>
        <p:spPr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25" name="灯片编号占位符 1"/>
          <p:cNvSpPr txBox="1"/>
          <p:nvPr/>
        </p:nvSpPr>
        <p:spPr>
          <a:xfrm>
            <a:off x="9356725" y="6492874"/>
            <a:ext cx="2743200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r"/>
            <a:fld id="{9A0DB2DC-4C9A-4742-B13C-FB6460FD3503}" type="slidenum">
              <a:rPr lang="zh-CN" altLang="en-US" sz="1600" dirty="0">
                <a:solidFill>
                  <a:srgbClr val="89898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zh-CN" altLang="en-US" sz="1600" dirty="0">
              <a:solidFill>
                <a:srgbClr val="89898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61471" y="1610725"/>
          <a:ext cx="7798436" cy="5031689"/>
        </p:xfrm>
        <a:graphic>
          <a:graphicData uri="http://schemas.openxmlformats.org/drawingml/2006/table">
            <a:tbl>
              <a:tblPr/>
              <a:tblGrid>
                <a:gridCol w="949550"/>
                <a:gridCol w="1192428"/>
                <a:gridCol w="2017769"/>
                <a:gridCol w="634831"/>
                <a:gridCol w="1242240"/>
                <a:gridCol w="1761618"/>
              </a:tblGrid>
              <a:tr h="39916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sz="16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</a:t>
                      </a:r>
                      <a:endParaRPr lang="zh-CN" sz="16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  <a:endParaRPr lang="zh-CN" sz="16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sz="16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参数</a:t>
                      </a:r>
                      <a:endParaRPr lang="zh-CN" sz="16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数值</a:t>
                      </a:r>
                      <a:endParaRPr lang="zh-CN" sz="16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361169">
                <a:tc rowSpan="7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雷达系统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载波频率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480MHz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节点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参数</a:t>
                      </a: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节点数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（空中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个，海面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个）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29717">
                <a:tc vMerge="1"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信号带宽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2MHz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节点内阵列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 URA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2×2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144780">
                <a:tc vMerge="1">
                  <a:tcPr/>
                </a:tc>
                <a:tc vMerge="1"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阵元间距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半波长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39141">
                <a:tc vMerge="1"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占空比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10%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/>
                </a:tc>
                <a:tc vMerge="1"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118999">
                <a:tc vMerge="1"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cPr marL="101600" marR="101600" marT="50800" marB="5080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节点构型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空中三角形，空海间距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50km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64922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脉冲</a:t>
                      </a:r>
                      <a:r>
                        <a:rPr lang="en-US" altLang="zh-CN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PRF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10k Hz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/>
                </a:tc>
                <a:tc vMerge="1">
                  <a:tcPr marL="101600" marR="101600" marT="50800" marB="5080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51358">
                <a:tc vMerge="1"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相干脉冲数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节点间距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空中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100m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、海面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500m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61169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搜索</a:t>
                      </a: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方位覆盖 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-60°~60°</a:t>
                      </a:r>
                      <a:endParaRPr lang="zh-CN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检测参数</a:t>
                      </a:r>
                      <a:endParaRPr 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检测门限</a:t>
                      </a:r>
                      <a:endParaRPr lang="zh-CN" sz="14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15dB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俯仰覆盖</a:t>
                      </a:r>
                      <a:endParaRPr lang="zh-CN" altLang="en-US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0~60°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虚警概率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1e-6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 vMerge="1"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杂波模型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K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分布、海杂波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1169"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目标参数</a:t>
                      </a:r>
                      <a:endParaRPr 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RCS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空中目标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0.1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㎡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海面目标</a:t>
                      </a: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㎡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跟踪参数</a:t>
                      </a:r>
                      <a:endParaRPr 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400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滤波算法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扩展卡尔曼滤波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90779">
                <a:tc vMerge="1"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目标距离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、速度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100km/0.5MA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（空中）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120km/15m/s</a:t>
                      </a:r>
                      <a:r>
                        <a:rPr lang="zh-CN" altLang="en-US" sz="1400" b="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（海面）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关联门限</a:t>
                      </a:r>
                      <a:endParaRPr 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1000m</a:t>
                      </a:r>
                      <a:endParaRPr lang="en-US" altLang="zh-CN" sz="14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600" marR="101600" marT="50800" marB="508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3" name="图片 12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907" y="1103947"/>
            <a:ext cx="3842579" cy="2233613"/>
          </a:xfrm>
          <a:prstGeom prst="rect">
            <a:avLst/>
          </a:prstGeom>
        </p:spPr>
      </p:pic>
      <p:pic>
        <p:nvPicPr>
          <p:cNvPr id="14" name="图片 13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94" y="3912655"/>
            <a:ext cx="3581399" cy="2081691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518164" y="3462923"/>
            <a:ext cx="2852063" cy="338554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600" dirty="0"/>
              <a:t>空海平台协同对空探测示意图</a:t>
            </a:r>
            <a:endParaRPr lang="zh-CN" altLang="en-US" sz="1600" dirty="0"/>
          </a:p>
        </p:txBody>
      </p:sp>
      <p:sp>
        <p:nvSpPr>
          <p:cNvPr id="16" name="文本框 15"/>
          <p:cNvSpPr txBox="1"/>
          <p:nvPr/>
        </p:nvSpPr>
        <p:spPr>
          <a:xfrm>
            <a:off x="8518163" y="6105525"/>
            <a:ext cx="2852063" cy="338554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600" dirty="0"/>
              <a:t>空海平台协同对海探测示意图</a:t>
            </a:r>
            <a:endParaRPr lang="zh-CN" altLang="en-US" sz="1600" dirty="0"/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21" name="矩形 20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2" name="矩形 21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461521" y="812499"/>
            <a:ext cx="4339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空海平台多节点高效相参合成机理与方法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349" y="1198460"/>
            <a:ext cx="5700433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4.5.</a:t>
            </a:r>
            <a:r>
              <a:rPr lang="zh-CN" altLang="en-US" dirty="0">
                <a:sym typeface="+mn-ea"/>
              </a:rPr>
              <a:t>空海平台多节点高效协同探测仿真验证参数设置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2475"/>
            <a:ext cx="12192000" cy="19050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5" name="灯片编号占位符 1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r"/>
            <a:fld id="{9A0DB2DC-4C9A-4742-B13C-FB6460FD3503}" type="slidenum">
              <a:rPr lang="zh-CN" altLang="en-US" sz="1600" dirty="0">
                <a:solidFill>
                  <a:srgbClr val="89898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zh-CN" altLang="en-US" sz="1600" dirty="0">
              <a:solidFill>
                <a:srgbClr val="89898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21" name="矩形 20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3" name="矩形 22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5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61521" y="812499"/>
            <a:ext cx="5032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空海异构平台多节点高效全相参合成机理与方法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349" y="1198460"/>
            <a:ext cx="5700433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4.5.</a:t>
            </a:r>
            <a:r>
              <a:rPr lang="zh-CN" altLang="en-US" dirty="0">
                <a:sym typeface="+mn-ea"/>
              </a:rPr>
              <a:t>空海平台多节点高效协同探测仿真验证</a:t>
            </a:r>
            <a:endParaRPr lang="zh-CN" altLang="en-US" dirty="0"/>
          </a:p>
        </p:txBody>
      </p:sp>
      <p:sp>
        <p:nvSpPr>
          <p:cNvPr id="28" name="矩形 22"/>
          <p:cNvSpPr>
            <a:spLocks noChangeArrowheads="1"/>
          </p:cNvSpPr>
          <p:nvPr/>
        </p:nvSpPr>
        <p:spPr bwMode="auto">
          <a:xfrm>
            <a:off x="52348" y="1485702"/>
            <a:ext cx="7674332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）仿真用例①：理想条件下的空海异构协同探测性能分析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"/>
            </p:custDataLst>
          </p:nvPr>
        </p:nvSpPr>
        <p:spPr>
          <a:xfrm>
            <a:off x="451197" y="4765099"/>
            <a:ext cx="2262158" cy="369332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系统合成增益对比图</a:t>
            </a:r>
            <a:endParaRPr lang="zh-CN" altLang="en-US" dirty="0"/>
          </a:p>
        </p:txBody>
      </p:sp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3351236" y="4765936"/>
            <a:ext cx="2468880" cy="368300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en-US" dirty="0">
                <a:sym typeface="+mn-ea"/>
              </a:rPr>
              <a:t>检测概率边界图验证图</a:t>
            </a:r>
            <a:endParaRPr lang="zh-CN" altLang="en-US" dirty="0"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165772" y="4765060"/>
            <a:ext cx="2468880" cy="368300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ym typeface="+mn-ea"/>
              </a:rPr>
              <a:t>定位精度边界图验证图</a:t>
            </a:r>
            <a:endParaRPr lang="zh-CN" altLang="en-US" dirty="0"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980170" y="4765060"/>
            <a:ext cx="2468880" cy="368300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ym typeface="+mn-ea"/>
              </a:rPr>
              <a:t>跟踪精度边界图验证图</a:t>
            </a:r>
            <a:endParaRPr lang="zh-CN" altLang="en-US" dirty="0">
              <a:sym typeface="+mn-ea"/>
            </a:endParaRPr>
          </a:p>
        </p:txBody>
      </p:sp>
      <p:pic>
        <p:nvPicPr>
          <p:cNvPr id="32" name="图片 31" descr="屏幕截图 2026-04-25 210004"/>
          <p:cNvPicPr>
            <a:picLocks noChangeAspect="1"/>
          </p:cNvPicPr>
          <p:nvPr/>
        </p:nvPicPr>
        <p:blipFill>
          <a:blip r:embed="rId3"/>
          <a:srcRect t="170" r="2015"/>
          <a:stretch>
            <a:fillRect/>
          </a:stretch>
        </p:blipFill>
        <p:spPr>
          <a:xfrm>
            <a:off x="353695" y="2109249"/>
            <a:ext cx="2408555" cy="260413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230" y="2215294"/>
            <a:ext cx="8513445" cy="215011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104140" y="5433060"/>
            <a:ext cx="12023090" cy="116522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所提方法检测概率约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0.85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传统非相参仅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0.55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），定位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RMSE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约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45 m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传统非相参约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110m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），跟踪稳态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RMSE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约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25m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传统非相参约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65 m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所提方法等效融合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SNR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增益相比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传统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非相参平均提升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4.1 dB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5000"/>
              </a:lnSpc>
              <a:buClr>
                <a:schemeClr val="accent1"/>
              </a:buClr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25000"/>
              </a:lnSpc>
              <a:buClr>
                <a:schemeClr val="accent1"/>
              </a:buClr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2475"/>
            <a:ext cx="12192000" cy="19050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5" name="灯片编号占位符 1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r"/>
            <a:fld id="{9A0DB2DC-4C9A-4742-B13C-FB6460FD3503}" type="slidenum">
              <a:rPr lang="zh-CN" altLang="en-US" sz="1600" dirty="0">
                <a:solidFill>
                  <a:srgbClr val="89898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zh-CN" altLang="en-US" sz="1600" dirty="0">
              <a:solidFill>
                <a:srgbClr val="89898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21" name="矩形 20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3" name="矩形 22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5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61521" y="812499"/>
            <a:ext cx="5032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空海异构平台多节点高效全相参合成机理与方法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349" y="1198460"/>
            <a:ext cx="5700433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4.5.</a:t>
            </a:r>
            <a:r>
              <a:rPr lang="zh-CN" altLang="en-US" dirty="0">
                <a:sym typeface="+mn-ea"/>
              </a:rPr>
              <a:t>空海平台多节点高效协同探测仿真验证</a:t>
            </a:r>
            <a:endParaRPr lang="zh-CN" altLang="en-US" dirty="0"/>
          </a:p>
        </p:txBody>
      </p:sp>
      <p:sp>
        <p:nvSpPr>
          <p:cNvPr id="28" name="矩形 22"/>
          <p:cNvSpPr>
            <a:spLocks noChangeArrowheads="1"/>
          </p:cNvSpPr>
          <p:nvPr/>
        </p:nvSpPr>
        <p:spPr bwMode="auto">
          <a:xfrm>
            <a:off x="52348" y="1485702"/>
            <a:ext cx="7674332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）仿真用例②：理想条件下的不同路径数协同探测的性能分析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471" y="1985326"/>
            <a:ext cx="9454004" cy="3105096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2"/>
            </p:custDataLst>
          </p:nvPr>
        </p:nvSpPr>
        <p:spPr>
          <a:xfrm>
            <a:off x="4136292" y="5090422"/>
            <a:ext cx="4339650" cy="369332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l"/>
            <a:r>
              <a:rPr lang="zh-CN" altLang="en-US" dirty="0">
                <a:sym typeface="+mn-ea"/>
              </a:rPr>
              <a:t>不同空海节点数对协同探测性能影响分析</a:t>
            </a:r>
            <a:endParaRPr lang="zh-CN" altLang="en-US" dirty="0"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6670" y="5507956"/>
            <a:ext cx="12138660" cy="112144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25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海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相对海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检测概率下降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38%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，定位误差增大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3.3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倍，跟踪误差增大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3.2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倍；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25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海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链路）相对海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检测概率下降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12%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，定位误差增大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1.6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倍，跟踪误差增大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1.5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倍；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25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海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9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链路）相对海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检测概率下降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15%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，定位误差增大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1.9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倍，跟踪误差增大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1.8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倍。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2475"/>
            <a:ext cx="12192000" cy="19050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5" name="灯片编号占位符 1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r"/>
            <a:fld id="{9A0DB2DC-4C9A-4742-B13C-FB6460FD3503}" type="slidenum">
              <a:rPr lang="zh-CN" altLang="en-US" sz="1600" dirty="0">
                <a:solidFill>
                  <a:srgbClr val="89898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zh-CN" altLang="en-US" sz="1600" dirty="0">
              <a:solidFill>
                <a:srgbClr val="89898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21" name="矩形 20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3" name="矩形 22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5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61521" y="812499"/>
            <a:ext cx="5032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空海异构平台多节点高效全相参合成机理与方法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349" y="1198460"/>
            <a:ext cx="5700433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4.5.</a:t>
            </a:r>
            <a:r>
              <a:rPr lang="zh-CN" altLang="en-US" dirty="0">
                <a:sym typeface="+mn-ea"/>
              </a:rPr>
              <a:t>空海平台多节点高效协同探测仿真验证</a:t>
            </a:r>
            <a:endParaRPr lang="zh-CN" altLang="en-US" dirty="0"/>
          </a:p>
        </p:txBody>
      </p:sp>
      <p:sp>
        <p:nvSpPr>
          <p:cNvPr id="28" name="矩形 22"/>
          <p:cNvSpPr>
            <a:spLocks noChangeArrowheads="1"/>
          </p:cNvSpPr>
          <p:nvPr/>
        </p:nvSpPr>
        <p:spPr bwMode="auto">
          <a:xfrm>
            <a:off x="52348" y="1485702"/>
            <a:ext cx="9190712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）仿真用例③：同步误差对空海协同影响分析 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163" y="1933040"/>
            <a:ext cx="5400619" cy="175133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286" y="1872195"/>
            <a:ext cx="5704948" cy="184630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63" y="4015889"/>
            <a:ext cx="5592658" cy="1813231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59" y="4073079"/>
            <a:ext cx="5700375" cy="1813231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2138844" y="3684370"/>
            <a:ext cx="1826141" cy="338554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600" dirty="0"/>
              <a:t>时间误差影响分析</a:t>
            </a:r>
            <a:endParaRPr lang="zh-CN" altLang="en-US" sz="1600" dirty="0"/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8329989" y="3766443"/>
            <a:ext cx="1826141" cy="338554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600" dirty="0"/>
              <a:t>相位误差影响分析</a:t>
            </a:r>
            <a:endParaRPr lang="zh-CN" altLang="en-US" sz="1600" dirty="0"/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1989494" y="5816288"/>
            <a:ext cx="1826141" cy="338554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600" dirty="0"/>
              <a:t>频率误差影响分析</a:t>
            </a:r>
            <a:endParaRPr lang="zh-CN" altLang="en-US" sz="1600" dirty="0"/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8329989" y="5853547"/>
            <a:ext cx="1826141" cy="338554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600" dirty="0"/>
              <a:t>位置误差影响分析</a:t>
            </a:r>
            <a:endParaRPr lang="zh-CN" altLang="en-US" sz="1600" dirty="0"/>
          </a:p>
        </p:txBody>
      </p:sp>
      <p:sp>
        <p:nvSpPr>
          <p:cNvPr id="30" name="矩形 29"/>
          <p:cNvSpPr/>
          <p:nvPr/>
        </p:nvSpPr>
        <p:spPr>
          <a:xfrm>
            <a:off x="0" y="6183695"/>
            <a:ext cx="12138660" cy="7785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  <a:buClr>
                <a:schemeClr val="accent1"/>
              </a:buClr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空海异构平台时间误差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≤50 ns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，位置误差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≤ 15 m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；同构平台频率误差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≤50Hz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，相位误差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≤ 20</a:t>
            </a:r>
            <a:r>
              <a:rPr lang="en-US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°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，可保证两级融合检测概率优于非相参体制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≥ 30%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，定位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跟踪精度提升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≥ 2 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倍。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52475"/>
            <a:ext cx="12192000" cy="19050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5" name="灯片编号占位符 1"/>
          <p:cNvSpPr txBox="1"/>
          <p:nvPr/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r"/>
            <a:fld id="{9A0DB2DC-4C9A-4742-B13C-FB6460FD3503}" type="slidenum">
              <a:rPr lang="zh-CN" altLang="en-US" sz="1600" dirty="0">
                <a:solidFill>
                  <a:srgbClr val="89898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fld>
            <a:endParaRPr lang="zh-CN" altLang="en-US" sz="1600" dirty="0">
              <a:solidFill>
                <a:srgbClr val="89898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21" name="矩形 20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23" name="矩形 22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5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461521" y="812499"/>
            <a:ext cx="5032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空海异构平台多节点高效全相参合成机理与方法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2349" y="1198460"/>
            <a:ext cx="5700433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4.5.</a:t>
            </a:r>
            <a:r>
              <a:rPr lang="zh-CN" altLang="en-US" dirty="0">
                <a:sym typeface="+mn-ea"/>
              </a:rPr>
              <a:t>空海平台多节点高效协同探测仿真验证</a:t>
            </a:r>
            <a:endParaRPr lang="zh-CN" altLang="en-US" dirty="0"/>
          </a:p>
        </p:txBody>
      </p:sp>
      <p:sp>
        <p:nvSpPr>
          <p:cNvPr id="28" name="矩形 22"/>
          <p:cNvSpPr>
            <a:spLocks noChangeArrowheads="1"/>
          </p:cNvSpPr>
          <p:nvPr/>
        </p:nvSpPr>
        <p:spPr bwMode="auto">
          <a:xfrm>
            <a:off x="-69572" y="1531778"/>
            <a:ext cx="10661372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 marL="0" indent="0">
              <a:lnSpc>
                <a:spcPct val="150000"/>
              </a:lnSpc>
              <a:buClr>
                <a:srgbClr val="FF0000"/>
              </a:buClr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）仿真用例③：海面波动、空中姿态、空中平台所处高度偏差对空海协同影响分析 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2104967" y="4017726"/>
            <a:ext cx="2031325" cy="338554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600" dirty="0"/>
              <a:t>海面波动影响对比图</a:t>
            </a:r>
            <a:endParaRPr lang="zh-CN" altLang="en-US" sz="1600" dirty="0"/>
          </a:p>
        </p:txBody>
      </p:sp>
      <p:sp>
        <p:nvSpPr>
          <p:cNvPr id="29" name="文本框 28"/>
          <p:cNvSpPr txBox="1"/>
          <p:nvPr>
            <p:custDataLst>
              <p:tags r:id="rId2"/>
            </p:custDataLst>
          </p:nvPr>
        </p:nvSpPr>
        <p:spPr>
          <a:xfrm>
            <a:off x="8619677" y="5120862"/>
            <a:ext cx="2331720" cy="584775"/>
          </a:xfrm>
          <a:prstGeom prst="rect">
            <a:avLst/>
          </a:prstGeom>
          <a:solidFill>
            <a:srgbClr val="005DC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algn="ctr"/>
            <a:r>
              <a:rPr lang="zh-CN" altLang="en-US" sz="1600" dirty="0"/>
              <a:t>空中无人平台所处高度偏差影响对比图</a:t>
            </a:r>
            <a:endParaRPr lang="zh-CN" altLang="en-US" sz="1600" dirty="0"/>
          </a:p>
        </p:txBody>
      </p:sp>
      <p:sp>
        <p:nvSpPr>
          <p:cNvPr id="30" name="矩形 29"/>
          <p:cNvSpPr/>
          <p:nvPr/>
        </p:nvSpPr>
        <p:spPr>
          <a:xfrm>
            <a:off x="0" y="6183695"/>
            <a:ext cx="12138660" cy="77851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125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海面波动（≤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 m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）对定位影响较小，对检测影响不明显；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 algn="just">
              <a:lnSpc>
                <a:spcPct val="125000"/>
              </a:lnSpc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姿态误差≤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10°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、高度偏差≤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50 m 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条件下，检测概率提升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40%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，定位精度提升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2.2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倍，跟踪精度提升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2.5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倍。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598" y="4392316"/>
            <a:ext cx="5396079" cy="1738112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1" y="2117639"/>
            <a:ext cx="5601617" cy="181385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359" y="2066699"/>
            <a:ext cx="5916404" cy="1811523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6"/>
            </p:custDataLst>
          </p:nvPr>
        </p:nvSpPr>
        <p:spPr>
          <a:xfrm>
            <a:off x="7714436" y="3937717"/>
            <a:ext cx="2441694" cy="338554"/>
          </a:xfrm>
          <a:prstGeom prst="rect">
            <a:avLst/>
          </a:prstGeom>
          <a:solidFill>
            <a:srgbClr val="005DC0"/>
          </a:solidFill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z="1600" dirty="0"/>
              <a:t>空中姿态变化影响对比图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V="1">
            <a:off x="0" y="709295"/>
            <a:ext cx="12192000" cy="19050"/>
          </a:xfrm>
          <a:prstGeom prst="line">
            <a:avLst/>
          </a:prstGeom>
          <a:ln w="82550" cmpd="thinThick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12"/>
          <p:cNvSpPr/>
          <p:nvPr/>
        </p:nvSpPr>
        <p:spPr>
          <a:xfrm>
            <a:off x="4136292" y="-18050"/>
            <a:ext cx="743350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en-US" altLang="zh-CN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多节点信号级高效相参合成机理与方法 </a:t>
            </a:r>
            <a:endParaRPr lang="zh-CN" altLang="en-US" sz="2800" b="1" i="1" kern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10"/>
          <p:cNvSpPr/>
          <p:nvPr/>
        </p:nvSpPr>
        <p:spPr>
          <a:xfrm>
            <a:off x="0" y="-19050"/>
            <a:ext cx="6833235" cy="85725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14350" lvl="0" indent="-514350" algn="just">
              <a:defRPr/>
            </a:pPr>
            <a:r>
              <a:rPr lang="zh-CN" altLang="en-US" sz="32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二、研究工作完成情况</a:t>
            </a:r>
            <a:endParaRPr kumimoji="0" lang="en-US" altLang="zh-CN" sz="3200" b="1" i="0" u="none" strike="noStrike" kern="0" cap="none" spc="0" normalizeH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61471" y="747404"/>
            <a:ext cx="8591550" cy="466725"/>
            <a:chOff x="1039748" y="4323365"/>
            <a:chExt cx="10820067" cy="437299"/>
          </a:xfrm>
        </p:grpSpPr>
        <p:sp>
          <p:nvSpPr>
            <p:cNvPr id="10" name="矩形 9"/>
            <p:cNvSpPr/>
            <p:nvPr/>
          </p:nvSpPr>
          <p:spPr>
            <a:xfrm>
              <a:off x="1491584" y="4393274"/>
              <a:ext cx="10368231" cy="367390"/>
            </a:xfrm>
            <a:prstGeom prst="rect">
              <a:avLst/>
            </a:prstGeom>
            <a:solidFill>
              <a:srgbClr val="D24726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rgbClr val="FFFFFF"/>
                </a:solidFill>
                <a:latin typeface="Gulim" panose="020B0600000101010101" pitchFamily="34" charset="-127"/>
                <a:ea typeface="Gulim" panose="020B0600000101010101" pitchFamily="34" charset="-127"/>
              </a:endParaRPr>
            </a:p>
          </p:txBody>
        </p:sp>
        <p:sp>
          <p:nvSpPr>
            <p:cNvPr id="12" name="矩形 11"/>
            <p:cNvSpPr>
              <a:spLocks noChangeArrowheads="1"/>
            </p:cNvSpPr>
            <p:nvPr/>
          </p:nvSpPr>
          <p:spPr bwMode="auto">
            <a:xfrm>
              <a:off x="1491662" y="4323365"/>
              <a:ext cx="7417042" cy="4339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spcAft>
                  <a:spcPts val="500"/>
                </a:spcAft>
              </a:pPr>
              <a:endParaRPr lang="zh-CN" altLang="en-US" sz="22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TextBox 47"/>
            <p:cNvSpPr txBox="1">
              <a:spLocks noChangeArrowheads="1"/>
            </p:cNvSpPr>
            <p:nvPr/>
          </p:nvSpPr>
          <p:spPr bwMode="auto">
            <a:xfrm>
              <a:off x="1039748" y="4393430"/>
              <a:ext cx="459534" cy="346047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FFFFFF"/>
                  </a:solidFill>
                  <a:latin typeface="Impact" panose="020B0806030902050204" pitchFamily="34" charset="0"/>
                  <a:ea typeface="Arial Unicode MS" panose="020B0604020202020204" charset="-122"/>
                  <a:cs typeface="Arial Unicode MS" panose="020B0604020202020204" charset="-122"/>
                </a:rPr>
                <a:t>4</a:t>
              </a:r>
              <a:endParaRPr lang="en-US" altLang="zh-CN" dirty="0">
                <a:solidFill>
                  <a:srgbClr val="FFFFFF"/>
                </a:solidFill>
                <a:latin typeface="Impact" panose="020B0806030902050204" pitchFamily="34" charset="0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</p:grp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61521" y="812499"/>
            <a:ext cx="45704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空海平台多节点高效全相参合成机理与方法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471" y="1196213"/>
            <a:ext cx="5700433" cy="369332"/>
          </a:xfrm>
          <a:prstGeom prst="rect">
            <a:avLst/>
          </a:prstGeom>
          <a:solidFill>
            <a:srgbClr val="92D050"/>
          </a:solidFill>
          <a:ln w="12700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altLang="zh-CN" dirty="0">
                <a:sym typeface="+mn-ea"/>
              </a:rPr>
              <a:t>4.6. </a:t>
            </a:r>
            <a:r>
              <a:rPr lang="zh-CN" altLang="en-US" dirty="0">
                <a:sym typeface="+mn-ea"/>
              </a:rPr>
              <a:t>空海平台多节点高效协同探测小结</a:t>
            </a:r>
            <a:endParaRPr lang="zh-CN" altLang="en-US" dirty="0"/>
          </a:p>
        </p:txBody>
      </p: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310590" y="1579927"/>
          <a:ext cx="11062260" cy="5127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710"/>
                <a:gridCol w="8210550"/>
              </a:tblGrid>
              <a:tr h="597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类别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+mn-cs"/>
                        </a:rPr>
                        <a:t>关键结论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anchor="ctr"/>
                </a:tc>
              </a:tr>
              <a:tr h="597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技术路线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提出同构节点内相参合成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+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异构平台间非相参融合（多级信号级融合）方案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597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性能提升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vs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传统非相参）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检测概率：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0.85 vs 0.55</a:t>
                      </a:r>
                      <a:endParaRPr lang="en-US" altLang="zh-CN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定位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RMSE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：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45 m vs 110 m</a:t>
                      </a:r>
                      <a:endParaRPr lang="en-US" altLang="zh-CN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跟踪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RMSE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：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25 m vs 65 m</a:t>
                      </a:r>
                      <a:endParaRPr lang="en-US" altLang="zh-CN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等效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SNR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增益：平均提升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4.1 dB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597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节点数影响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/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（以海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为基准）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海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：检测概率↓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38%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，定位误差↑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3.3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倍，跟踪误差↑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3.2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海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：检测概率↓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12%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，定位误差↑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1.6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倍，跟踪误差↑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海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：检测概率↓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15%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，定位误差↑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1.9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倍，跟踪误差↑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1.8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597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同步误差约束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空海异构平台：时间误差 ≤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50 ns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，位置误差 ≤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15 m</a:t>
                      </a:r>
                      <a:endParaRPr lang="en-US" altLang="zh-CN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同构平台：频率误差 ≤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50 Hz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，相位误差 ≤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20°</a:t>
                      </a:r>
                      <a:endParaRPr lang="en-US" altLang="zh-CN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满足上述条件时：检测概率优于非相参 ≥ 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，定位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跟踪精度提升 ≥ 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  <a:tr h="597958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环境与平台姿态影响</a:t>
                      </a:r>
                      <a:endParaRPr lang="zh-CN" altLang="en-US" b="1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海面波动 ≤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10 m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对定位影响较小，对检测影响不明显。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/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•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姿态误差 ≤ 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10°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、高度偏差 ≤ 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50 m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条件下：检测概率提升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，定位精度提升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2.2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倍，跟踪精度提升 </a:t>
                      </a:r>
                      <a:r>
                        <a:rPr lang="en-US" altLang="zh-CN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2.5 </a:t>
                      </a:r>
                      <a:r>
                        <a:rPr lang="zh-CN" altLang="en-US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倍</a:t>
                      </a:r>
                      <a:endParaRPr lang="zh-CN" altLang="en-US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DIAGRAM_VIRTUALLY_FRAME" val="{&quot;height&quot;:410.6133858267716,&quot;left&quot;:52.3,&quot;top&quot;:125.4,&quot;width&quot;:907.7}"/>
</p:tagLst>
</file>

<file path=ppt/tags/tag64.xml><?xml version="1.0" encoding="utf-8"?>
<p:tagLst xmlns:p="http://schemas.openxmlformats.org/presentationml/2006/main">
  <p:tag name="KSO_WM_DIAGRAM_VIRTUALLY_FRAME" val="{&quot;height&quot;:410.6133858267716,&quot;left&quot;:52.3,&quot;top&quot;:125.4,&quot;width&quot;:907.7}"/>
</p:tagLst>
</file>

<file path=ppt/tags/tag65.xml><?xml version="1.0" encoding="utf-8"?>
<p:tagLst xmlns:p="http://schemas.openxmlformats.org/presentationml/2006/main">
  <p:tag name="KSO_WM_DIAGRAM_VIRTUALLY_FRAME" val="{&quot;height&quot;:410.6133858267716,&quot;left&quot;:52.3,&quot;top&quot;:125.4,&quot;width&quot;:907.7}"/>
</p:tagLst>
</file>

<file path=ppt/tags/tag66.xml><?xml version="1.0" encoding="utf-8"?>
<p:tagLst xmlns:p="http://schemas.openxmlformats.org/presentationml/2006/main">
  <p:tag name="KSO_WM_DIAGRAM_VIRTUALLY_FRAME" val="{&quot;height&quot;:410.6133858267716,&quot;left&quot;:52.3,&quot;top&quot;:125.4,&quot;width&quot;:907.7}"/>
</p:tagLst>
</file>

<file path=ppt/tags/tag67.xml><?xml version="1.0" encoding="utf-8"?>
<p:tagLst xmlns:p="http://schemas.openxmlformats.org/presentationml/2006/main">
  <p:tag name="KSO_WM_DIAGRAM_VIRTUALLY_FRAME" val="{&quot;height&quot;:407.65,&quot;left&quot;:14.15,&quot;top&quot;:115.45,&quot;width&quot;:1086.85}"/>
</p:tagLst>
</file>

<file path=ppt/tags/tag68.xml><?xml version="1.0" encoding="utf-8"?>
<p:tagLst xmlns:p="http://schemas.openxmlformats.org/presentationml/2006/main">
  <p:tag name="TABLE_ENDDRAG_ORIGIN_RECT" val="825*347"/>
  <p:tag name="TABLE_ENDDRAG_RECT" val="67*157*825*347"/>
</p:tagLst>
</file>

<file path=ppt/tags/tag69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0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1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2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3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4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5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6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7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ags/tag78.xml><?xml version="1.0" encoding="utf-8"?>
<p:tagLst xmlns:p="http://schemas.openxmlformats.org/presentationml/2006/main">
  <p:tag name="KSO_WM_DIAGRAM_VIRTUALLY_FRAME" val="{&quot;height&quot;:407.65,&quot;left&quot;:14.15,&quot;top&quot;:115.45,&quot;width&quot;:894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3199</Words>
  <Application>WPS 演示</Application>
  <PresentationFormat>宽屏</PresentationFormat>
  <Paragraphs>474</Paragraphs>
  <Slides>11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11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黑体</vt:lpstr>
      <vt:lpstr>Gulim</vt:lpstr>
      <vt:lpstr>华文中宋</vt:lpstr>
      <vt:lpstr>Impact</vt:lpstr>
      <vt:lpstr>Malgun Gothic</vt:lpstr>
      <vt:lpstr>等线</vt:lpstr>
      <vt:lpstr>楷体_GB2312</vt:lpstr>
      <vt:lpstr>新宋体</vt:lpstr>
      <vt:lpstr>WPS</vt:lpstr>
      <vt:lpstr>Visio.Drawing.15</vt:lpstr>
      <vt:lpstr>Visio.Drawing.15</vt:lpstr>
      <vt:lpstr>Visio.Drawing.15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晨沐</cp:lastModifiedBy>
  <cp:revision>157</cp:revision>
  <dcterms:created xsi:type="dcterms:W3CDTF">2019-06-19T02:08:00Z</dcterms:created>
  <dcterms:modified xsi:type="dcterms:W3CDTF">2026-05-11T09:05:19Z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438D97FE7D2D42A497D98671F36AF103_11</vt:lpwstr>
  </property>
</Properties>
</file>