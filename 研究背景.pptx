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58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Zhihui Li" initials="ZL" lastIdx="0" clrIdx="1"/>
  <p:cmAuthor id="3" name="振中 郝" initials="振郝" lastIdx="0" clrIdx="2"/>
  <p:cmAuthor id="4" name="子扬" initials="子扬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F2910-17A6-4FF8-BB70-EEDB0A00B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F2910-17A6-4FF8-BB70-EEDB0A00B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F2910-17A6-4FF8-BB70-EEDB0A00B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下一页给出现状分析总结，三大点都要总结，根据分析总结进而引出三个科学问题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F2910-17A6-4FF8-BB70-EEDB0A00B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F2910-17A6-4FF8-BB70-EEDB0A00B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3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wmf"/><Relationship Id="rId26" Type="http://schemas.openxmlformats.org/officeDocument/2006/relationships/notesSlide" Target="../notesSlides/notesSlide4.xml"/><Relationship Id="rId25" Type="http://schemas.openxmlformats.org/officeDocument/2006/relationships/vmlDrawing" Target="../drawings/vmlDrawing1.v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1.wmf"/><Relationship Id="rId22" Type="http://schemas.openxmlformats.org/officeDocument/2006/relationships/oleObject" Target="../embeddings/oleObject11.bin"/><Relationship Id="rId21" Type="http://schemas.openxmlformats.org/officeDocument/2006/relationships/image" Target="../media/image10.wmf"/><Relationship Id="rId20" Type="http://schemas.openxmlformats.org/officeDocument/2006/relationships/oleObject" Target="../embeddings/oleObject10.bin"/><Relationship Id="rId2" Type="http://schemas.openxmlformats.org/officeDocument/2006/relationships/oleObject" Target="../embeddings/oleObject1.bin"/><Relationship Id="rId19" Type="http://schemas.openxmlformats.org/officeDocument/2006/relationships/image" Target="../media/image9.wmf"/><Relationship Id="rId18" Type="http://schemas.openxmlformats.org/officeDocument/2006/relationships/oleObject" Target="../embeddings/oleObject9.bin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7.w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5.wmf"/><Relationship Id="rId10" Type="http://schemas.openxmlformats.org/officeDocument/2006/relationships/oleObject" Target="../embeddings/oleObject5.bin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6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10"/>
          <p:cNvSpPr/>
          <p:nvPr/>
        </p:nvSpPr>
        <p:spPr>
          <a:xfrm>
            <a:off x="5107" y="-36979"/>
            <a:ext cx="6247119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一、项目概况</a:t>
            </a:r>
            <a:endParaRPr kumimoji="0" lang="zh-CN" altLang="en-US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5" name="组合 27"/>
          <p:cNvGrpSpPr/>
          <p:nvPr/>
        </p:nvGrpSpPr>
        <p:grpSpPr bwMode="auto">
          <a:xfrm>
            <a:off x="68263" y="753036"/>
            <a:ext cx="8591550" cy="473075"/>
            <a:chOff x="1039748" y="4323365"/>
            <a:chExt cx="10820067" cy="443248"/>
          </a:xfrm>
        </p:grpSpPr>
        <p:sp>
          <p:nvSpPr>
            <p:cNvPr id="76" name="矩形 75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80" name="矩形 41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82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73183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楷体_GB2312" panose="02010609030101010101" pitchFamily="49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1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87" name="矩形 1"/>
          <p:cNvSpPr>
            <a:spLocks noChangeArrowheads="1"/>
          </p:cNvSpPr>
          <p:nvPr/>
        </p:nvSpPr>
        <p:spPr bwMode="auto">
          <a:xfrm>
            <a:off x="468313" y="818124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合同约定任务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140657" y="2276131"/>
            <a:ext cx="1460544" cy="392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形成④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263" y="2000753"/>
            <a:ext cx="1719640" cy="48572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68263" y="1630217"/>
            <a:ext cx="1719640" cy="370537"/>
          </a:xfrm>
          <a:prstGeom prst="rect">
            <a:avLst/>
          </a:prstGeom>
          <a:ln>
            <a:solidFill>
              <a:srgbClr val="005D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研究目标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95"/>
          <p:cNvSpPr>
            <a:spLocks noChangeArrowheads="1"/>
          </p:cNvSpPr>
          <p:nvPr/>
        </p:nvSpPr>
        <p:spPr bwMode="auto">
          <a:xfrm>
            <a:off x="68262" y="1234347"/>
            <a:ext cx="2973112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合同约定任务逻辑关系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128032" y="1635161"/>
            <a:ext cx="5523557" cy="370537"/>
          </a:xfrm>
          <a:prstGeom prst="rect">
            <a:avLst/>
          </a:prstGeom>
          <a:ln>
            <a:solidFill>
              <a:srgbClr val="005D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043006" y="1635161"/>
            <a:ext cx="1646838" cy="370537"/>
          </a:xfrm>
          <a:prstGeom prst="rect">
            <a:avLst/>
          </a:prstGeom>
          <a:ln>
            <a:solidFill>
              <a:srgbClr val="005D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核心成果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10261600" y="1630216"/>
            <a:ext cx="1862137" cy="370537"/>
          </a:xfrm>
          <a:prstGeom prst="rect">
            <a:avLst/>
          </a:prstGeom>
          <a:ln>
            <a:solidFill>
              <a:srgbClr val="005D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主要指标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004" y="2348072"/>
            <a:ext cx="1813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①开展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节点信号级协同机理与效能边界研究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5716" y="3196530"/>
            <a:ext cx="1855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②突破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低延迟高精度同步  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46077" y="3781306"/>
            <a:ext cx="185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③突破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非理想系统高效相参合成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27678" y="4414942"/>
            <a:ext cx="1824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④建立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多节点信号延迟和同步精度模型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3975" y="5854156"/>
            <a:ext cx="1823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⑥构建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节点信号级协同仿真验证半实物环境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262703" y="2079492"/>
            <a:ext cx="2180590" cy="772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多节点信号级协同低延迟高精度同步方法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突破②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787898" y="2080186"/>
            <a:ext cx="2729708" cy="230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多节点同步非理想因素分析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787898" y="2348072"/>
            <a:ext cx="2729708" cy="230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同步误差补偿方法设计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4787898" y="2615958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多节点同步方法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2262703" y="3285363"/>
            <a:ext cx="2180590" cy="786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多节点信号级高效相参合成机理与方法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突破③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787898" y="3285694"/>
            <a:ext cx="2729708" cy="230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地基多节点信号级高效相参合成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787898" y="3556946"/>
            <a:ext cx="2729708" cy="230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空基多节点信号级高效相参合成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787898" y="3828198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空海多节点信号级高效相参合成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2262703" y="4499225"/>
            <a:ext cx="2180590" cy="664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分布式多节点信号级协同效能边界研究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796978" y="4472794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多因素对信号级协同的影响分析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4796978" y="4748486"/>
            <a:ext cx="2729708" cy="4411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典型场景下的信号级协同效能边界模型构建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2262703" y="5906168"/>
            <a:ext cx="2180590" cy="664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多节点信号级协同仿真试验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4787898" y="5658107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仿真与试验验证总体方案设计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787898" y="5939746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全链路数字仿真系统设计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785108" y="6221294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半实物仿真系统设计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4785108" y="6502842"/>
            <a:ext cx="2729708" cy="2300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仿真试验验证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>
            <a:stCxn id="126" idx="3"/>
          </p:cNvCxnSpPr>
          <p:nvPr/>
        </p:nvCxnSpPr>
        <p:spPr>
          <a:xfrm>
            <a:off x="4443293" y="2465926"/>
            <a:ext cx="1604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4603748" y="2195200"/>
            <a:ext cx="0" cy="3405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127" idx="1"/>
          </p:cNvCxnSpPr>
          <p:nvPr/>
        </p:nvCxnSpPr>
        <p:spPr>
          <a:xfrm>
            <a:off x="4603748" y="2195199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34" idx="1"/>
          </p:cNvCxnSpPr>
          <p:nvPr/>
        </p:nvCxnSpPr>
        <p:spPr>
          <a:xfrm>
            <a:off x="4603748" y="2463085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4603747" y="2535776"/>
            <a:ext cx="0" cy="1951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36" idx="1"/>
          </p:cNvCxnSpPr>
          <p:nvPr/>
        </p:nvCxnSpPr>
        <p:spPr>
          <a:xfrm>
            <a:off x="4603748" y="2730972"/>
            <a:ext cx="18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>
            <a:off x="4443293" y="3725603"/>
            <a:ext cx="1604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/>
        </p:nvCxnSpPr>
        <p:spPr>
          <a:xfrm flipV="1">
            <a:off x="4603748" y="3330698"/>
            <a:ext cx="0" cy="3949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/>
          <p:nvPr/>
        </p:nvCxnSpPr>
        <p:spPr>
          <a:xfrm>
            <a:off x="4603748" y="3330698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4603748" y="3691150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4603748" y="3725603"/>
            <a:ext cx="0" cy="3214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/>
          <p:nvPr/>
        </p:nvCxnSpPr>
        <p:spPr>
          <a:xfrm>
            <a:off x="4603748" y="4047043"/>
            <a:ext cx="18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4443292" y="4861399"/>
            <a:ext cx="1604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flipV="1">
            <a:off x="4603748" y="4610879"/>
            <a:ext cx="0" cy="3949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>
            <a:off x="4603748" y="4610879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4603747" y="4861399"/>
            <a:ext cx="0" cy="1443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/>
        </p:nvCxnSpPr>
        <p:spPr>
          <a:xfrm>
            <a:off x="4603748" y="5005784"/>
            <a:ext cx="18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4443293" y="6226402"/>
            <a:ext cx="1604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>
          <a:xfrm flipH="1" flipV="1">
            <a:off x="4603747" y="5781185"/>
            <a:ext cx="1" cy="4452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/>
          <p:cNvCxnSpPr/>
          <p:nvPr/>
        </p:nvCxnSpPr>
        <p:spPr>
          <a:xfrm>
            <a:off x="4596158" y="5781185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/>
        </p:nvCxnSpPr>
        <p:spPr>
          <a:xfrm>
            <a:off x="4600958" y="6046164"/>
            <a:ext cx="184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/>
        </p:nvCxnSpPr>
        <p:spPr>
          <a:xfrm>
            <a:off x="4603748" y="6226402"/>
            <a:ext cx="0" cy="391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>
            <a:off x="4600958" y="6336308"/>
            <a:ext cx="18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>
            <a:off x="4603748" y="6617856"/>
            <a:ext cx="18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矩形 183"/>
          <p:cNvSpPr/>
          <p:nvPr/>
        </p:nvSpPr>
        <p:spPr>
          <a:xfrm>
            <a:off x="2129880" y="2007657"/>
            <a:ext cx="5521709" cy="48503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/>
          <p:cNvSpPr txBox="1"/>
          <p:nvPr/>
        </p:nvSpPr>
        <p:spPr>
          <a:xfrm>
            <a:off x="74659" y="5235150"/>
            <a:ext cx="1809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⑤建立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多节点分布式效能边界模型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1787903" y="1675287"/>
            <a:ext cx="329465" cy="307671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箭头: 右 186"/>
          <p:cNvSpPr/>
          <p:nvPr/>
        </p:nvSpPr>
        <p:spPr>
          <a:xfrm>
            <a:off x="7651589" y="1687889"/>
            <a:ext cx="391416" cy="29506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/>
          <p:cNvSpPr/>
          <p:nvPr/>
        </p:nvSpPr>
        <p:spPr>
          <a:xfrm>
            <a:off x="8043006" y="2009713"/>
            <a:ext cx="1646838" cy="48503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/>
          <p:cNvSpPr/>
          <p:nvPr/>
        </p:nvSpPr>
        <p:spPr>
          <a:xfrm>
            <a:off x="8148592" y="4588825"/>
            <a:ext cx="1460545" cy="392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形成⑤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91862" y="2037180"/>
            <a:ext cx="5404327" cy="882944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/>
          <p:cNvSpPr/>
          <p:nvPr/>
        </p:nvSpPr>
        <p:spPr>
          <a:xfrm>
            <a:off x="2191862" y="3229967"/>
            <a:ext cx="5404327" cy="891689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2191862" y="4425872"/>
            <a:ext cx="5404327" cy="809139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29" idx="3"/>
            <a:endCxn id="88" idx="1"/>
          </p:cNvCxnSpPr>
          <p:nvPr/>
        </p:nvCxnSpPr>
        <p:spPr>
          <a:xfrm flipV="1">
            <a:off x="7596189" y="2472187"/>
            <a:ext cx="544468" cy="6465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7596189" y="4784881"/>
            <a:ext cx="552403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/>
          <p:cNvSpPr/>
          <p:nvPr/>
        </p:nvSpPr>
        <p:spPr>
          <a:xfrm>
            <a:off x="8148824" y="3209757"/>
            <a:ext cx="1460544" cy="109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形成地基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空中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空海多节点信号级高效相参合成模型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4" name="直接箭头连接符 193"/>
          <p:cNvCxnSpPr/>
          <p:nvPr/>
        </p:nvCxnSpPr>
        <p:spPr>
          <a:xfrm>
            <a:off x="7588253" y="3646700"/>
            <a:ext cx="552403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/>
        </p:nvSpPr>
        <p:spPr>
          <a:xfrm>
            <a:off x="8148591" y="6011651"/>
            <a:ext cx="1460545" cy="392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形成⑥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2183926" y="5600688"/>
            <a:ext cx="5404327" cy="1170601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8" name="直接箭头连接符 197"/>
          <p:cNvCxnSpPr/>
          <p:nvPr/>
        </p:nvCxnSpPr>
        <p:spPr>
          <a:xfrm>
            <a:off x="7588253" y="6181734"/>
            <a:ext cx="552403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矩形 198"/>
          <p:cNvSpPr/>
          <p:nvPr/>
        </p:nvSpPr>
        <p:spPr>
          <a:xfrm>
            <a:off x="10260675" y="2007657"/>
            <a:ext cx="1863985" cy="48503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/>
          <p:cNvSpPr/>
          <p:nvPr/>
        </p:nvSpPr>
        <p:spPr>
          <a:xfrm>
            <a:off x="10367186" y="4344864"/>
            <a:ext cx="1650961" cy="1242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：针对不少于三种典型场景，建立多节点分布式效能边界模型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10361742" y="2149342"/>
            <a:ext cx="1650961" cy="1242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：建立多节点信号延时和同步精度模型，并提出性能提升方案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直接箭头连接符 33"/>
          <p:cNvCxnSpPr>
            <a:stCxn id="88" idx="3"/>
          </p:cNvCxnSpPr>
          <p:nvPr/>
        </p:nvCxnSpPr>
        <p:spPr>
          <a:xfrm>
            <a:off x="9601201" y="2472187"/>
            <a:ext cx="752605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>
            <a:off x="10081260" y="4541029"/>
            <a:ext cx="280482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93" idx="3"/>
          </p:cNvCxnSpPr>
          <p:nvPr/>
        </p:nvCxnSpPr>
        <p:spPr>
          <a:xfrm>
            <a:off x="9609368" y="3756991"/>
            <a:ext cx="471892" cy="362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0081260" y="3756991"/>
            <a:ext cx="0" cy="784038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89" idx="3"/>
          </p:cNvCxnSpPr>
          <p:nvPr/>
        </p:nvCxnSpPr>
        <p:spPr>
          <a:xfrm>
            <a:off x="9609137" y="4784881"/>
            <a:ext cx="752605" cy="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196" idx="3"/>
          </p:cNvCxnSpPr>
          <p:nvPr/>
        </p:nvCxnSpPr>
        <p:spPr>
          <a:xfrm>
            <a:off x="9609136" y="6207707"/>
            <a:ext cx="158353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V="1">
            <a:off x="10175875" y="3026559"/>
            <a:ext cx="0" cy="31811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10175875" y="3026558"/>
            <a:ext cx="185867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200" idx="2"/>
          </p:cNvCxnSpPr>
          <p:nvPr/>
        </p:nvCxnSpPr>
        <p:spPr>
          <a:xfrm flipV="1">
            <a:off x="11192667" y="5587188"/>
            <a:ext cx="0" cy="6205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7" name="箭头: 下 14346"/>
          <p:cNvSpPr/>
          <p:nvPr/>
        </p:nvSpPr>
        <p:spPr>
          <a:xfrm>
            <a:off x="4688233" y="2925863"/>
            <a:ext cx="184150" cy="30213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箭头: 下 214"/>
          <p:cNvSpPr/>
          <p:nvPr/>
        </p:nvSpPr>
        <p:spPr>
          <a:xfrm>
            <a:off x="4695823" y="4137117"/>
            <a:ext cx="184150" cy="30213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箭头: 下 215"/>
          <p:cNvSpPr/>
          <p:nvPr/>
        </p:nvSpPr>
        <p:spPr>
          <a:xfrm>
            <a:off x="4686033" y="5273614"/>
            <a:ext cx="184150" cy="30213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文本框 216"/>
          <p:cNvSpPr txBox="1"/>
          <p:nvPr/>
        </p:nvSpPr>
        <p:spPr>
          <a:xfrm>
            <a:off x="4889810" y="2901713"/>
            <a:ext cx="997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提供保障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4889810" y="4083091"/>
            <a:ext cx="997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评估对象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4870183" y="5234456"/>
            <a:ext cx="997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评估准则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9914925" y="6231824"/>
            <a:ext cx="997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验证平台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箭头: 右 226"/>
          <p:cNvSpPr/>
          <p:nvPr/>
        </p:nvSpPr>
        <p:spPr>
          <a:xfrm>
            <a:off x="9689843" y="1681587"/>
            <a:ext cx="570831" cy="295069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87840" y="6432614"/>
            <a:ext cx="2743200" cy="365125"/>
          </a:xfrm>
        </p:spPr>
        <p:txBody>
          <a:bodyPr/>
          <a:lstStyle/>
          <a:p>
            <a:fld id="{34AA9B82-FE34-4FC6-ACE0-6F7D50795A65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145536" y="18524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53404" y="1467832"/>
          <a:ext cx="11685193" cy="4595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752"/>
                <a:gridCol w="3501483"/>
                <a:gridCol w="3170533"/>
                <a:gridCol w="3534425"/>
              </a:tblGrid>
              <a:tr h="361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现有方法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现有技术局限性与痛点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演进趋势与本课题突破方向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1190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地基平台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基于光纤物理链路的</a:t>
                      </a: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有线同步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形成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成熟的高精度时频同步网络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强依赖预设物理基础设施，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缺乏机动性与灵活性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，无法满足高动态、快速部署的组网需求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亟需摆脱物理线缆束缚，向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无线化、机动化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同步演进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411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空中平台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基于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主从式双向比对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的无线同步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）时间域：</a:t>
                      </a: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PTP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协议优化、分布式卡尔曼滤波等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）频</a:t>
                      </a: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相域：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快速傅里叶变换内插、最大似然估计等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）高动态集群链路交互繁琐导致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补偿延时大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）强依赖中心节点，系统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生存能力差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，且信噪比受限时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误差补偿精度下降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摒弃主从架构，探索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去中心化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的多节点分布式联合同步，降低延时</a:t>
                      </a:r>
                      <a:endParaRPr lang="zh-CN" altLang="en-US" sz="16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6328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空海平台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跨域协同同步（尚处起步阶段</a:t>
                      </a:r>
                      <a:r>
                        <a:rPr lang="en-US" altLang="zh-CN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空白）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理论层面试图引入图优化、张量分解等高维复合算法进行多源测量修正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）空海跨域多维度误差耦合严重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altLang="zh-CN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）现有高阶算法算力需求巨大、收敛慢，系统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整体延迟高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，难以支撑工程化相参合成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构建适用于异构平台的联合同步与补偿方法，实现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低延迟、高精度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79705" y="943270"/>
            <a:ext cx="4213875" cy="430887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微软雅黑" panose="020B0503020204020204" charset="-122"/>
                <a:ea typeface="微软雅黑" panose="020B0503020204020204" charset="-122"/>
              </a:rPr>
              <a:t>1.1. 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同步与补偿国内外发展现状</a:t>
            </a:r>
            <a:endParaRPr lang="en-US" altLang="zh-CN" sz="22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3403" y="6180789"/>
            <a:ext cx="1168519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现有基于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主从同步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架构算法补偿系统生存能力差、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精度低、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延迟高</a:t>
            </a:r>
            <a:r>
              <a:rPr lang="zh-CN" altLang="en-US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探索面向多平台（空中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空海）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去中心化的低延迟、高精度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分布式联合同步补偿方法，是本课题的攻关重心。</a:t>
            </a:r>
            <a:endParaRPr lang="zh-CN" altLang="en-US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10"/>
          <p:cNvSpPr/>
          <p:nvPr/>
        </p:nvSpPr>
        <p:spPr>
          <a:xfrm>
            <a:off x="61471" y="0"/>
            <a:ext cx="7069311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项目概况</a:t>
            </a: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课题研究现状分析</a:t>
            </a:r>
            <a:endParaRPr kumimoji="0" lang="zh-CN" altLang="en-US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87840" y="6432614"/>
            <a:ext cx="2743200" cy="365125"/>
          </a:xfrm>
        </p:spPr>
        <p:txBody>
          <a:bodyPr/>
          <a:lstStyle/>
          <a:p>
            <a:fld id="{34AA9B82-FE34-4FC6-ACE0-6F7D50795A65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145536" y="18524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53404" y="1431166"/>
          <a:ext cx="11685193" cy="4513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752"/>
                <a:gridCol w="3501483"/>
                <a:gridCol w="3170533"/>
                <a:gridCol w="3534425"/>
              </a:tblGrid>
              <a:tr h="3611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现有方法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现有技术局限性与痛点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演进趋势与本课题突破方向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1190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地基平台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稀疏孔径优化布阵</a:t>
                      </a:r>
                      <a:endParaRPr lang="en-US" altLang="zh-CN" sz="1600" b="1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以抑制、消除栅瓣为核心，通过布阵、加权规避栅瓣弊端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视栅瓣为干扰，忽视其空间价值，抑瓣损失孔径自由度，合成效率低。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亟需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栅瓣可控化、资源化利用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。</a:t>
                      </a:r>
                      <a:endParaRPr lang="en-US" altLang="zh-CN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主动栅瓣调控，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变抑瓣为用瓣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，提升合成效率与探测视场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411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空中平台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普遍采用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多帧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参差重频波形设计，依靠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多脉冲积累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完成距离 </a:t>
                      </a: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 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多普勒解模糊处理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多帧体制时序开销大、数据冗余，探测实时性弱，多普勒旁瓣抑制能力有限，高速目标适配性差</a:t>
                      </a:r>
                      <a:endParaRPr lang="zh-CN" altLang="en-US" sz="1600" b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亟需单帧轻量化解模糊、低旁瓣高效探测。</a:t>
                      </a:r>
                      <a:endParaRPr lang="en-US" altLang="zh-CN" sz="16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优化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非均匀脉冲间隔设计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，以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单帧</a:t>
                      </a: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波形实现无模糊探测与低多普勒旁瓣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451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空海平台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采用多平台协同融合模式，完成探测任务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跨平台融合存在非相参瓶颈，信息损失大，无法充分发挥协同相参增益，探测效能受限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跨平台全域相参融合、提升协同探测增益。</a:t>
                      </a: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子节点相参、跨平台非相参</a:t>
                      </a: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两级融合架构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79705" y="943270"/>
            <a:ext cx="4213875" cy="430887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微软雅黑" panose="020B0503020204020204" charset="-122"/>
                <a:ea typeface="微软雅黑" panose="020B0503020204020204" charset="-122"/>
              </a:rPr>
              <a:t>1.1. 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相参探测发展现状</a:t>
            </a:r>
            <a:endParaRPr lang="en-US" altLang="zh-CN" sz="22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3403" y="6180789"/>
            <a:ext cx="1168519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现有地基、空海、空中分布式协同探测分别存在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栅瓣利用形式单一、跨平台相参融合损耗大、多帧波形体制实时性差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问题，亟需探索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栅瓣主动调控、去中心化全域相参融合与单帧优化波形设计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相结合的高效相参探测方法</a:t>
            </a:r>
            <a:endParaRPr lang="zh-CN" altLang="en-US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10"/>
          <p:cNvSpPr/>
          <p:nvPr/>
        </p:nvSpPr>
        <p:spPr>
          <a:xfrm>
            <a:off x="61471" y="0"/>
            <a:ext cx="7069311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项目概况</a:t>
            </a: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课题研究现状分析</a:t>
            </a:r>
            <a:endParaRPr kumimoji="0" lang="zh-CN" altLang="en-US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705" y="842010"/>
            <a:ext cx="6155781" cy="430887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1.2.3 </a:t>
            </a:r>
            <a:r>
              <a:rPr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多节点信号级协同效能边界国内外发展现状</a:t>
            </a:r>
            <a:endParaRPr lang="en-US" altLang="zh-CN" sz="2200" b="1" dirty="0">
              <a:solidFill>
                <a:schemeClr val="l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145536" y="20371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9705" y="1301115"/>
          <a:ext cx="1166241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855"/>
                <a:gridCol w="5356225"/>
                <a:gridCol w="2654300"/>
                <a:gridCol w="2399030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效能指标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公式表征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优点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局限性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1381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目标检测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概率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基于经典统计信号处理理论，物理意义明确、计算简便，可用于雷达系统基础理论设计与初步性能对比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）指标体系单一，相互指标间关联性差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）对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非理想因素考虑较少</a:t>
                      </a: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，未全面考虑系统误差、目标特性与节点数量等因素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0" marR="5080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030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目标定位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精度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基于信息论与统计估计理论，理论基础扎实，能给出参数估计精度的理论极限，为雷达系统设计与性能对标提供量化基准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50800" marR="50800" marT="50800" marB="508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98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目标跟踪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精度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基于条件克拉美罗下界理论，能给出跟踪参数估计的理论精度极限，为跟踪算法设计与性能对标提供量化基准</a:t>
                      </a:r>
                      <a:endParaRPr lang="zh-CN" altLang="en-US" sz="16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0" marR="50800" marT="50800" marB="50800" anchor="ctr"/>
                </a:tc>
                <a:tc vMerge="1">
                  <a:tcPr marL="50800" marR="50800" marT="50800" marB="50800"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80340" y="6423660"/>
            <a:ext cx="11662410" cy="368300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效能评估指标单一，且对非理想因素考虑较少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，本课题研究多理想因素下的效能边界模型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0"/>
          <p:cNvSpPr/>
          <p:nvPr/>
        </p:nvSpPr>
        <p:spPr>
          <a:xfrm>
            <a:off x="61471" y="0"/>
            <a:ext cx="7069311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项目概况</a:t>
            </a: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课题研究现状分析</a:t>
            </a:r>
            <a:endParaRPr kumimoji="0" lang="zh-CN" altLang="en-US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2"/>
          <p:cNvGraphicFramePr>
            <a:graphicFrameLocks noChangeAspect="1"/>
          </p:cNvGraphicFramePr>
          <p:nvPr/>
        </p:nvGraphicFramePr>
        <p:xfrm>
          <a:off x="4046855" y="1858010"/>
          <a:ext cx="275844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8" name="" r:id="rId2" imgW="2578100" imgH="457200" progId="Equation.DSMT4">
                  <p:embed/>
                </p:oleObj>
              </mc:Choice>
              <mc:Fallback>
                <p:oleObj name="" r:id="rId2" imgW="2578100" imgH="457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46855" y="1858010"/>
                        <a:ext cx="275844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3"/>
          <p:cNvGraphicFramePr>
            <a:graphicFrameLocks noChangeAspect="1"/>
          </p:cNvGraphicFramePr>
          <p:nvPr/>
        </p:nvGraphicFramePr>
        <p:xfrm>
          <a:off x="1660525" y="2632710"/>
          <a:ext cx="148526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141730" imgH="254000" progId="Equation.DSMT4">
                  <p:embed/>
                </p:oleObj>
              </mc:Choice>
              <mc:Fallback>
                <p:oleObj name="" r:id="rId4" imgW="1141730" imgH="2540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0525" y="2632710"/>
                        <a:ext cx="1485265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5"/>
          <p:cNvGraphicFramePr>
            <a:graphicFrameLocks noChangeAspect="1"/>
          </p:cNvGraphicFramePr>
          <p:nvPr/>
        </p:nvGraphicFramePr>
        <p:xfrm>
          <a:off x="3759200" y="2508885"/>
          <a:ext cx="2901950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" imgW="2589530" imgH="482600" progId="Equation.DSMT4">
                  <p:embed/>
                </p:oleObj>
              </mc:Choice>
              <mc:Fallback>
                <p:oleObj name="" r:id="rId6" imgW="2589530" imgH="4826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59200" y="2508885"/>
                        <a:ext cx="2901950" cy="5403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5"/>
          <p:cNvGraphicFramePr>
            <a:graphicFrameLocks noChangeAspect="1"/>
          </p:cNvGraphicFramePr>
          <p:nvPr/>
        </p:nvGraphicFramePr>
        <p:xfrm>
          <a:off x="1464310" y="3257550"/>
          <a:ext cx="1525905" cy="26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8" imgW="1154430" imgH="203200" progId="Equation.DSMT4">
                  <p:embed/>
                </p:oleObj>
              </mc:Choice>
              <mc:Fallback>
                <p:oleObj name="" r:id="rId8" imgW="1154430" imgH="203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64310" y="3257550"/>
                        <a:ext cx="1525905" cy="268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8"/>
          <p:cNvGraphicFramePr>
            <a:graphicFrameLocks noChangeAspect="1"/>
          </p:cNvGraphicFramePr>
          <p:nvPr/>
        </p:nvGraphicFramePr>
        <p:xfrm>
          <a:off x="3144838" y="3286760"/>
          <a:ext cx="178371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0" imgW="1485900" imgH="254000" progId="Equation.DSMT4">
                  <p:embed/>
                </p:oleObj>
              </mc:Choice>
              <mc:Fallback>
                <p:oleObj name="" r:id="rId10" imgW="1485900" imgH="2540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44838" y="3286760"/>
                        <a:ext cx="178371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2"/>
          <p:cNvGraphicFramePr>
            <a:graphicFrameLocks noChangeAspect="1"/>
          </p:cNvGraphicFramePr>
          <p:nvPr/>
        </p:nvGraphicFramePr>
        <p:xfrm>
          <a:off x="1464310" y="3708400"/>
          <a:ext cx="335216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2" imgW="2298700" imgH="228600" progId="Equation.DSMT4">
                  <p:embed/>
                </p:oleObj>
              </mc:Choice>
              <mc:Fallback>
                <p:oleObj name="" r:id="rId12" imgW="2298700" imgH="2286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64310" y="3708400"/>
                        <a:ext cx="335216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6"/>
          <p:cNvGraphicFramePr>
            <a:graphicFrameLocks noChangeAspect="1"/>
          </p:cNvGraphicFramePr>
          <p:nvPr/>
        </p:nvGraphicFramePr>
        <p:xfrm>
          <a:off x="1464310" y="4204970"/>
          <a:ext cx="41116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4" imgW="2819400" imgH="228600" progId="Equation.DSMT4">
                  <p:embed/>
                </p:oleObj>
              </mc:Choice>
              <mc:Fallback>
                <p:oleObj name="" r:id="rId14" imgW="2819400" imgH="2286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64310" y="4204970"/>
                        <a:ext cx="411162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0"/>
          <p:cNvGraphicFramePr>
            <a:graphicFrameLocks noChangeAspect="1"/>
          </p:cNvGraphicFramePr>
          <p:nvPr/>
        </p:nvGraphicFramePr>
        <p:xfrm>
          <a:off x="1464310" y="4674870"/>
          <a:ext cx="5333365" cy="33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6" imgW="3683000" imgH="228600" progId="Equation.DSMT4">
                  <p:embed/>
                </p:oleObj>
              </mc:Choice>
              <mc:Fallback>
                <p:oleObj name="" r:id="rId16" imgW="3683000" imgH="2286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64310" y="4674870"/>
                        <a:ext cx="5333365" cy="330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8"/>
          <p:cNvGraphicFramePr>
            <a:graphicFrameLocks noChangeAspect="1"/>
          </p:cNvGraphicFramePr>
          <p:nvPr/>
        </p:nvGraphicFramePr>
        <p:xfrm>
          <a:off x="5083493" y="3292475"/>
          <a:ext cx="1713865" cy="26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8" imgW="1295400" imgH="203200" progId="Equation.DSMT4">
                  <p:embed/>
                </p:oleObj>
              </mc:Choice>
              <mc:Fallback>
                <p:oleObj name="" r:id="rId18" imgW="1295400" imgH="2032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83493" y="3292475"/>
                        <a:ext cx="1713865" cy="268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2"/>
          <p:cNvGraphicFramePr>
            <a:graphicFrameLocks noChangeAspect="1"/>
          </p:cNvGraphicFramePr>
          <p:nvPr/>
        </p:nvGraphicFramePr>
        <p:xfrm>
          <a:off x="3145790" y="5581015"/>
          <a:ext cx="1686560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20" imgW="1193165" imgH="241300" progId="Equation.DSMT4">
                  <p:embed/>
                </p:oleObj>
              </mc:Choice>
              <mc:Fallback>
                <p:oleObj name="" r:id="rId20" imgW="1193165" imgH="2413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45790" y="5581015"/>
                        <a:ext cx="1686560" cy="340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6"/>
          <p:cNvGraphicFramePr>
            <a:graphicFrameLocks noChangeAspect="1"/>
          </p:cNvGraphicFramePr>
          <p:nvPr/>
        </p:nvGraphicFramePr>
        <p:xfrm>
          <a:off x="1463675" y="1825625"/>
          <a:ext cx="251333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22" imgW="2576830" imgH="495300" progId="Equation.DSMT4">
                  <p:embed/>
                </p:oleObj>
              </mc:Choice>
              <mc:Fallback>
                <p:oleObj name="" r:id="rId22" imgW="2576830" imgH="495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63675" y="1825625"/>
                        <a:ext cx="2513330" cy="483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4344" name="矩形 15"/>
          <p:cNvSpPr>
            <a:spLocks noChangeArrowheads="1"/>
          </p:cNvSpPr>
          <p:nvPr/>
        </p:nvSpPr>
        <p:spPr bwMode="auto">
          <a:xfrm>
            <a:off x="99548" y="1840145"/>
            <a:ext cx="796290" cy="3067685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 anchor="ctr" anchorCtr="0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r>
              <a:rPr lang="zh-CN" altLang="en-US" sz="2050" b="1" spc="110" dirty="0">
                <a:latin typeface="微软雅黑" panose="020B0503020204020204" charset="-122"/>
                <a:ea typeface="微软雅黑" panose="020B0503020204020204" charset="-122"/>
              </a:rPr>
              <a:t>多节点信号级协同机理与效能边界研究</a:t>
            </a:r>
            <a:endParaRPr lang="zh-CN" altLang="zh-CN" sz="2050" b="1" spc="11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5026513" y="1792313"/>
            <a:ext cx="3314994" cy="8235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大时空跨度下分布式动平台低延时同步误差补偿问题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</a:endParaRPr>
          </a:p>
        </p:txBody>
      </p:sp>
      <p:sp>
        <p:nvSpPr>
          <p:cNvPr id="70" name="箭头: 右 69"/>
          <p:cNvSpPr/>
          <p:nvPr>
            <p:custDataLst>
              <p:tags r:id="rId2"/>
            </p:custDataLst>
          </p:nvPr>
        </p:nvSpPr>
        <p:spPr>
          <a:xfrm>
            <a:off x="941559" y="2072555"/>
            <a:ext cx="722630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5026513" y="2991935"/>
            <a:ext cx="3314994" cy="8235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多节点相参合成孔径下辐射能量高效利用与处理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箭头: 右 69"/>
          <p:cNvSpPr/>
          <p:nvPr>
            <p:custDataLst>
              <p:tags r:id="rId4"/>
            </p:custDataLst>
          </p:nvPr>
        </p:nvSpPr>
        <p:spPr>
          <a:xfrm>
            <a:off x="940289" y="3353350"/>
            <a:ext cx="720090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026513" y="4242778"/>
            <a:ext cx="3314994" cy="7943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复合非理性因素下多节点效能边界定量表征问题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箭头: 右 69"/>
          <p:cNvSpPr/>
          <p:nvPr>
            <p:custDataLst>
              <p:tags r:id="rId6"/>
            </p:custDataLst>
          </p:nvPr>
        </p:nvSpPr>
        <p:spPr>
          <a:xfrm>
            <a:off x="941558" y="4530640"/>
            <a:ext cx="718821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0" y="5565382"/>
            <a:ext cx="12192000" cy="79082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just">
              <a:lnSpc>
                <a:spcPct val="125000"/>
              </a:lnSpc>
              <a:buClr>
                <a:schemeClr val="accent1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本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课题面向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地对空、空对地及空海异构平台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场景，重点解决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大时空跨度下低延迟高精度同步补偿、多节点相参合成辐射能量高效利用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，以及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复合非理想因素下效能边界定量表征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三大核心问题。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10"/>
          <p:cNvSpPr/>
          <p:nvPr/>
        </p:nvSpPr>
        <p:spPr>
          <a:xfrm>
            <a:off x="61471" y="0"/>
            <a:ext cx="7069311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一、项目概况</a:t>
            </a:r>
            <a:endParaRPr kumimoji="0" lang="zh-CN" altLang="en-US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1664188" y="1819618"/>
            <a:ext cx="2669687" cy="84391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sz="1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有中心、补偿精度低、系统延迟高</a:t>
            </a:r>
            <a:endParaRPr lang="zh-CN" altLang="en-US" sz="1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1664188" y="3066123"/>
            <a:ext cx="2669687" cy="77406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defRPr>
            </a:lvl1pPr>
          </a:lstStyle>
          <a:p>
            <a:r>
              <a:rPr lang="zh-CN" altLang="en-US" dirty="0"/>
              <a:t>基于分布式稀疏相参搜索效率低</a:t>
            </a:r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1664188" y="4242778"/>
            <a:ext cx="2669687" cy="84391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algn="ctr">
              <a:def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defRPr>
            </a:lvl1pPr>
          </a:lstStyle>
          <a:p>
            <a:r>
              <a:rPr lang="zh-CN" altLang="en-US" dirty="0"/>
              <a:t>效能评估指标单一，且对非理想因素考虑较少</a:t>
            </a:r>
            <a:endParaRPr lang="zh-CN" altLang="en-US" dirty="0"/>
          </a:p>
        </p:txBody>
      </p:sp>
      <p:sp>
        <p:nvSpPr>
          <p:cNvPr id="8" name="箭头: 右 69"/>
          <p:cNvSpPr/>
          <p:nvPr>
            <p:custDataLst>
              <p:tags r:id="rId10"/>
            </p:custDataLst>
          </p:nvPr>
        </p:nvSpPr>
        <p:spPr>
          <a:xfrm>
            <a:off x="4360398" y="2071920"/>
            <a:ext cx="666115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69"/>
          <p:cNvSpPr/>
          <p:nvPr>
            <p:custDataLst>
              <p:tags r:id="rId11"/>
            </p:custDataLst>
          </p:nvPr>
        </p:nvSpPr>
        <p:spPr>
          <a:xfrm>
            <a:off x="4356588" y="3282865"/>
            <a:ext cx="666115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69"/>
          <p:cNvSpPr/>
          <p:nvPr>
            <p:custDataLst>
              <p:tags r:id="rId12"/>
            </p:custDataLst>
          </p:nvPr>
        </p:nvSpPr>
        <p:spPr>
          <a:xfrm>
            <a:off x="4335634" y="4530640"/>
            <a:ext cx="687070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15928" y="1294527"/>
            <a:ext cx="304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603BD"/>
                </a:solidFill>
                <a:latin typeface="微软雅黑" panose="020B0503020204020204" charset="-122"/>
                <a:ea typeface="微软雅黑" panose="020B0503020204020204" charset="-122"/>
              </a:rPr>
              <a:t>现有不足</a:t>
            </a:r>
            <a:endParaRPr lang="zh-CN" altLang="en-US" sz="2400" b="1" dirty="0">
              <a:solidFill>
                <a:srgbClr val="2603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62550" y="1283859"/>
            <a:ext cx="304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科学技术问题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7" name="矩形 26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8" name="矩形 27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9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61521" y="812499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科学技术问题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65932" y="1249083"/>
            <a:ext cx="2482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典型场景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9034146" y="1763405"/>
            <a:ext cx="2907738" cy="84391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面向专项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空海场景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，解决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异构多节点低时延、高精度同步与补偿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问题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9034146" y="2947690"/>
            <a:ext cx="2907738" cy="84391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面向专项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地对空场景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，解决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地基多节点相参合成搜索效率不高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问题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5"/>
            </p:custDataLst>
          </p:nvPr>
        </p:nvSpPr>
        <p:spPr>
          <a:xfrm>
            <a:off x="9034145" y="4123466"/>
            <a:ext cx="2907738" cy="113615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面向专项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地面、空中、空海三大场景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，解决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多节点相参合成中的效能评估体系单一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</a:rPr>
              <a:t>问题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</a:endParaRPr>
          </a:p>
        </p:txBody>
      </p:sp>
      <p:sp>
        <p:nvSpPr>
          <p:cNvPr id="37" name="箭头: 右 69"/>
          <p:cNvSpPr/>
          <p:nvPr>
            <p:custDataLst>
              <p:tags r:id="rId16"/>
            </p:custDataLst>
          </p:nvPr>
        </p:nvSpPr>
        <p:spPr>
          <a:xfrm>
            <a:off x="8341507" y="2119020"/>
            <a:ext cx="666115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69"/>
          <p:cNvSpPr/>
          <p:nvPr>
            <p:custDataLst>
              <p:tags r:id="rId17"/>
            </p:custDataLst>
          </p:nvPr>
        </p:nvSpPr>
        <p:spPr>
          <a:xfrm>
            <a:off x="8341506" y="3254293"/>
            <a:ext cx="666115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69"/>
          <p:cNvSpPr/>
          <p:nvPr>
            <p:custDataLst>
              <p:tags r:id="rId18"/>
            </p:custDataLst>
          </p:nvPr>
        </p:nvSpPr>
        <p:spPr>
          <a:xfrm>
            <a:off x="8341506" y="4518018"/>
            <a:ext cx="666115" cy="2451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782*366"/>
  <p:tag name="TABLE_ENDDRAG_RECT" val="89*147*782*366"/>
</p:tagLst>
</file>

<file path=ppt/tags/tag64.xml><?xml version="1.0" encoding="utf-8"?>
<p:tagLst xmlns:p="http://schemas.openxmlformats.org/presentationml/2006/main">
  <p:tag name="TABLE_ENDDRAG_ORIGIN_RECT" val="782*366"/>
  <p:tag name="TABLE_ENDDRAG_RECT" val="89*147*782*366"/>
</p:tagLst>
</file>

<file path=ppt/tags/tag65.xml><?xml version="1.0" encoding="utf-8"?>
<p:tagLst xmlns:p="http://schemas.openxmlformats.org/presentationml/2006/main">
  <p:tag name="TABLE_ENDDRAG_ORIGIN_RECT" val="918*375"/>
  <p:tag name="TABLE_ENDDRAG_RECT" val="14*105*918*376"/>
</p:tagLst>
</file>

<file path=ppt/tags/tag66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67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68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69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0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1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2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3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4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5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6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7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8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79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80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81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82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ags/tag83.xml><?xml version="1.0" encoding="utf-8"?>
<p:tagLst xmlns:p="http://schemas.openxmlformats.org/presentationml/2006/main">
  <p:tag name="KSO_WM_DIAGRAM_VIRTUALLY_FRAME" val="{&quot;height&quot;:312.55,&quot;left&quot;:163.15,&quot;top&quot;:116.9,&quot;width&quot;:657.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2244</Words>
  <Application>WPS 演示</Application>
  <PresentationFormat>宽屏</PresentationFormat>
  <Paragraphs>246</Paragraphs>
  <Slides>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5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楷体_GB2312</vt:lpstr>
      <vt:lpstr>新宋体</vt:lpstr>
      <vt:lpstr>华文中宋</vt:lpstr>
      <vt:lpstr>Times New Roman</vt:lpstr>
      <vt:lpstr>Gulim</vt:lpstr>
      <vt:lpstr>Impact</vt:lpstr>
      <vt:lpstr>Malgun Gothic</vt:lpstr>
      <vt:lpstr>WPS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晨沐</cp:lastModifiedBy>
  <cp:revision>157</cp:revision>
  <dcterms:created xsi:type="dcterms:W3CDTF">2019-06-19T02:08:00Z</dcterms:created>
  <dcterms:modified xsi:type="dcterms:W3CDTF">2026-05-11T09:11:49Z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D7BC97916A734DDD9B6F4EDB01FD8AA8_11</vt:lpwstr>
  </property>
</Properties>
</file>