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150000" cy="486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1500" y="423000"/>
            <a:ext cx="20727000" cy="1903500"/>
          </a:xfrm>
          <a:prstGeom prst="roundRect">
            <a:avLst>
              <a:gd name="adj" fmla="val 16667"/>
            </a:avLst>
          </a:prstGeom>
          <a:solidFill>
            <a:srgbClr val="D6EAF8"/>
          </a:solidFill>
          <a:ln w="37306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3055" b="1">
                <a:solidFill>
                  <a:srgbClr val="1A5C8C"/>
                </a:solidFill>
              </a:rPr>
              <a:t>空海平台多节点信号级高效相参合成机理模型  原理框图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423000" y="2749500"/>
            <a:ext cx="6133500" cy="846000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22384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2115" b="1">
                <a:solidFill>
                  <a:srgbClr val="1A5C8C"/>
                </a:solidFill>
              </a:rPr>
              <a:t>模  型  输  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7402500" y="2749500"/>
            <a:ext cx="7614000" cy="846000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22384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2115" b="1">
                <a:solidFill>
                  <a:srgbClr val="1A5C8C"/>
                </a:solidFill>
              </a:rPr>
              <a:t>处  理  流  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15862500" y="2749500"/>
            <a:ext cx="4441500" cy="846000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22384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2115" b="1">
                <a:solidFill>
                  <a:srgbClr val="1A5C8C"/>
                </a:solidFill>
              </a:rPr>
              <a:t>模型输出</a:t>
            </a:r>
          </a:p>
        </p:txBody>
      </p:sp>
      <p:sp>
        <p:nvSpPr>
          <p:cNvPr id="6" name="Rectangle 5"/>
          <p:cNvSpPr/>
          <p:nvPr/>
        </p:nvSpPr>
        <p:spPr>
          <a:xfrm>
            <a:off x="423000" y="4018500"/>
            <a:ext cx="6133500" cy="2326500"/>
          </a:xfrm>
          <a:prstGeom prst="roundRect">
            <a:avLst>
              <a:gd name="adj" fmla="val 16667"/>
            </a:avLst>
          </a:prstGeom>
          <a:solidFill>
            <a:srgbClr val="D6EAF8"/>
          </a:solidFill>
          <a:ln w="22384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海面节点配置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Sea1 / Sea2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位置 · 速度 · 垂荡运动</a:t>
            </a:r>
          </a:p>
        </p:txBody>
      </p:sp>
      <p:sp>
        <p:nvSpPr>
          <p:cNvPr id="7" name="Rectangle 6"/>
          <p:cNvSpPr/>
          <p:nvPr/>
        </p:nvSpPr>
        <p:spPr>
          <a:xfrm>
            <a:off x="423000" y="6683400"/>
            <a:ext cx="6133500" cy="2326500"/>
          </a:xfrm>
          <a:prstGeom prst="roundRect">
            <a:avLst>
              <a:gd name="adj" fmla="val 16667"/>
            </a:avLst>
          </a:prstGeom>
          <a:solidFill>
            <a:srgbClr val="D6EAF8"/>
          </a:solidFill>
          <a:ln w="22384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空中节点配置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Air1 / Air2 / Air3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位置 · 速度 · 类型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423000" y="9348300"/>
            <a:ext cx="6133500" cy="2538000"/>
          </a:xfrm>
          <a:prstGeom prst="roundRect">
            <a:avLst>
              <a:gd name="adj" fmla="val 16667"/>
            </a:avLst>
          </a:prstGeom>
          <a:solidFill>
            <a:srgbClr val="D6EAF8"/>
          </a:solidFill>
          <a:ln w="22384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雷达系统参数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fc=500 MHz   B=2 MHz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Nsc=1024  Nc=64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PRI=140 µs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3000" y="12224700"/>
            <a:ext cx="6133500" cy="2326500"/>
          </a:xfrm>
          <a:prstGeom prst="roundRect">
            <a:avLst>
              <a:gd name="adj" fmla="val 16667"/>
            </a:avLst>
          </a:prstGeom>
          <a:solidFill>
            <a:srgbClr val="D6EAF8"/>
          </a:solidFill>
          <a:ln w="22384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目标场景参数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位置 · 速度 · RCS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（含垂荡运动）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000" y="14889600"/>
            <a:ext cx="6133500" cy="2326500"/>
          </a:xfrm>
          <a:prstGeom prst="roundRect">
            <a:avLst>
              <a:gd name="adj" fmla="val 16667"/>
            </a:avLst>
          </a:prstGeom>
          <a:solidFill>
            <a:srgbClr val="D6EAF8"/>
          </a:solidFill>
          <a:ln w="22384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杂波与噪声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K分布（ν=2, σ₀=0.01）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高斯白噪声 σ_n=8×10⁻⁴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000" y="17554500"/>
            <a:ext cx="6133500" cy="2538000"/>
          </a:xfrm>
          <a:prstGeom prst="roundRect">
            <a:avLst>
              <a:gd name="adj" fmla="val 16667"/>
            </a:avLst>
          </a:prstGeom>
          <a:solidFill>
            <a:srgbClr val="FDEDEC"/>
          </a:solidFill>
          <a:ln w="22384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同步误差参数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ΔT · ΔF · ΔΦ · ΔPos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ΔAmp · ΔPhCh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（4种误差模式）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000" y="20430900"/>
            <a:ext cx="6133500" cy="2326500"/>
          </a:xfrm>
          <a:prstGeom prst="roundRect">
            <a:avLst>
              <a:gd name="adj" fmla="val 16667"/>
            </a:avLst>
          </a:prstGeom>
          <a:solidFill>
            <a:srgbClr val="D6EAF8"/>
          </a:solidFill>
          <a:ln w="22384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CFAR检测参数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Pfa=1×10⁻³  G=2  T=4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OS-CFAR 有序统计量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2500" y="4018500"/>
            <a:ext cx="7614000" cy="3172500"/>
          </a:xfrm>
          <a:prstGeom prst="roundRect">
            <a:avLst>
              <a:gd name="adj" fmla="val 16667"/>
            </a:avLst>
          </a:prstGeom>
          <a:solidFill>
            <a:srgbClr val="D5F5E3"/>
          </a:solidFill>
          <a:ln w="22384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① OFDM 发射符号生成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/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QPSK 调制  频率交织分配：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  海面：奇/偶子载波各半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  空中：三节点各占 1/3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2500" y="7698600"/>
            <a:ext cx="7614000" cy="4653000"/>
          </a:xfrm>
          <a:prstGeom prst="roundRect">
            <a:avLst>
              <a:gd name="adj" fmla="val 16667"/>
            </a:avLst>
          </a:prstGeom>
          <a:solidFill>
            <a:srgbClr val="FDEBD0"/>
          </a:solidFill>
          <a:ln w="22384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② 多链路信号处理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（逐 Tx-Rx 对循环）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/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· 双基地回波  时延τ + 多普勒fd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· 幅相误差注入  K分布杂波叠加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· 匹配滤波  Z=Y⊙conj(X)·IFFT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· MTI 对消（1/2/3阶）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· 距离-多普勒FFT  Hann窗+fftshift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2500" y="12859200"/>
            <a:ext cx="7614000" cy="2326500"/>
          </a:xfrm>
          <a:prstGeom prst="roundRect">
            <a:avLst>
              <a:gd name="adj" fmla="val 16667"/>
            </a:avLst>
          </a:prstGeom>
          <a:solidFill>
            <a:srgbClr val="FDEBD0"/>
          </a:solidFill>
          <a:ln w="37306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1">
                <a:solidFill>
                  <a:srgbClr val="000000"/>
                </a:solidFill>
              </a:rPr>
              <a:t>相参 RD 图叠加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1">
                <a:solidFill>
                  <a:srgbClr val="000000"/>
                </a:solidFill>
              </a:rPr>
              <a:t>coh_RD += RD_link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1">
                <a:solidFill>
                  <a:srgbClr val="000000"/>
                </a:solidFill>
              </a:rPr>
              <a:t>（全链路相参累积）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2500" y="15693300"/>
            <a:ext cx="7614000" cy="2538000"/>
          </a:xfrm>
          <a:prstGeom prst="roundRect">
            <a:avLst>
              <a:gd name="adj" fmla="val 16667"/>
            </a:avLst>
          </a:prstGeom>
          <a:solidFill>
            <a:srgbClr val="F9EBEA"/>
          </a:solidFill>
          <a:ln w="22384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③ OS-CFAR 2D 检测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/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距离-多普勒平面  有序统计量自适应门限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→ 候选点 (r_meas, v_meas)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2500" y="18738900"/>
            <a:ext cx="7614000" cy="2538000"/>
          </a:xfrm>
          <a:prstGeom prst="roundRect">
            <a:avLst>
              <a:gd name="adj" fmla="val 16667"/>
            </a:avLst>
          </a:prstGeom>
          <a:solidFill>
            <a:srgbClr val="F9EBEA"/>
          </a:solidFill>
          <a:ln w="22384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④ 多链路 OTDA 定位 + 一致性确认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/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≥ 50% 链路支持 → 确认点迹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→ 确认点迹 (pos, vel)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2500" y="21784500"/>
            <a:ext cx="7614000" cy="2326500"/>
          </a:xfrm>
          <a:prstGeom prst="roundRect">
            <a:avLst>
              <a:gd name="adj" fmla="val 16667"/>
            </a:avLst>
          </a:prstGeom>
          <a:solidFill>
            <a:srgbClr val="F9EBEA"/>
          </a:solidFill>
          <a:ln w="22384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⑤ 子系统非相干融合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海面子系统 + 空中子系统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→ 位置关联（5 km 门限）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2500" y="24618600"/>
            <a:ext cx="7614000" cy="3595500"/>
          </a:xfrm>
          <a:prstGeom prst="roundRect">
            <a:avLst>
              <a:gd name="adj" fmla="val 16667"/>
            </a:avLst>
          </a:prstGeom>
          <a:solidFill>
            <a:srgbClr val="EAF0FB"/>
          </a:solidFill>
          <a:ln w="22384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⑥ Kalman 跟踪器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/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CV 匀速运动预测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量测更新（pos + vel 联合）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航迹起始 / 确认 / 撤销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相干增益估计：4.5 ~ 11 dB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209500" y="7191000"/>
            <a:ext cx="0" cy="507600"/>
          </a:xfrm>
          <a:prstGeom prst="line">
            <a:avLst/>
          </a:prstGeom>
          <a:ln w="32830">
            <a:solidFill>
              <a:srgbClr val="2C3E50"/>
            </a:solidFill>
            <a:headEnd type="triangle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209500" y="12351600"/>
            <a:ext cx="0" cy="507600"/>
          </a:xfrm>
          <a:prstGeom prst="line">
            <a:avLst/>
          </a:prstGeom>
          <a:ln w="32830">
            <a:solidFill>
              <a:srgbClr val="2C3E50"/>
            </a:solidFill>
            <a:headEnd type="triangle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209500" y="15185700"/>
            <a:ext cx="0" cy="507600"/>
          </a:xfrm>
          <a:prstGeom prst="line">
            <a:avLst/>
          </a:prstGeom>
          <a:ln w="32830">
            <a:solidFill>
              <a:srgbClr val="2C3E50"/>
            </a:solidFill>
            <a:headEnd type="triangle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209500" y="18231300"/>
            <a:ext cx="0" cy="507600"/>
          </a:xfrm>
          <a:prstGeom prst="line">
            <a:avLst/>
          </a:prstGeom>
          <a:ln w="32830">
            <a:solidFill>
              <a:srgbClr val="2C3E50"/>
            </a:solidFill>
            <a:headEnd type="triangle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209500" y="21276900"/>
            <a:ext cx="0" cy="507600"/>
          </a:xfrm>
          <a:prstGeom prst="line">
            <a:avLst/>
          </a:prstGeom>
          <a:ln w="32830">
            <a:solidFill>
              <a:srgbClr val="2C3E50"/>
            </a:solidFill>
            <a:headEnd type="triangle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209500" y="24111000"/>
            <a:ext cx="0" cy="507600"/>
          </a:xfrm>
          <a:prstGeom prst="line">
            <a:avLst/>
          </a:prstGeom>
          <a:ln w="32830">
            <a:solidFill>
              <a:srgbClr val="2C3E50"/>
            </a:solidFill>
            <a:headEnd type="triangle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5862500" y="4018500"/>
            <a:ext cx="4441500" cy="2326500"/>
          </a:xfrm>
          <a:prstGeom prst="roundRect">
            <a:avLst>
              <a:gd name="adj" fmla="val 16667"/>
            </a:avLst>
          </a:prstGeom>
          <a:solidFill>
            <a:srgbClr val="EBF5FB"/>
          </a:solidFill>
          <a:ln w="22384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距离-多普勒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RD 谱图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862500" y="6768000"/>
            <a:ext cx="4441500" cy="2326500"/>
          </a:xfrm>
          <a:prstGeom prst="roundRect">
            <a:avLst>
              <a:gd name="adj" fmla="val 16667"/>
            </a:avLst>
          </a:prstGeom>
          <a:solidFill>
            <a:srgbClr val="EBF5FB"/>
          </a:solidFill>
          <a:ln w="22384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目标检测结果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位置 / 速度 / SNR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862500" y="9517500"/>
            <a:ext cx="4441500" cy="2326500"/>
          </a:xfrm>
          <a:prstGeom prst="roundRect">
            <a:avLst>
              <a:gd name="adj" fmla="val 16667"/>
            </a:avLst>
          </a:prstGeom>
          <a:solidFill>
            <a:srgbClr val="EBF5FB"/>
          </a:solidFill>
          <a:ln w="22384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航迹状态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pos / vel / 协方差P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862500" y="12267000"/>
            <a:ext cx="4441500" cy="2326500"/>
          </a:xfrm>
          <a:prstGeom prst="roundRect">
            <a:avLst>
              <a:gd name="adj" fmla="val 16667"/>
            </a:avLst>
          </a:prstGeom>
          <a:solidFill>
            <a:srgbClr val="EBF5FB"/>
          </a:solidFill>
          <a:ln w="22384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相干增益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coh_gain_dB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862500" y="15016500"/>
            <a:ext cx="4441500" cy="2326500"/>
          </a:xfrm>
          <a:prstGeom prst="roundRect">
            <a:avLst>
              <a:gd name="adj" fmla="val 16667"/>
            </a:avLst>
          </a:prstGeom>
          <a:solidFill>
            <a:srgbClr val="EBF5FB"/>
          </a:solidFill>
          <a:ln w="22384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跟踪误差时序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rt_err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862500" y="17766000"/>
            <a:ext cx="4441500" cy="2326500"/>
          </a:xfrm>
          <a:prstGeom prst="roundRect">
            <a:avLst>
              <a:gd name="adj" fmla="val 16667"/>
            </a:avLst>
          </a:prstGeom>
          <a:solidFill>
            <a:srgbClr val="EBF5FB"/>
          </a:solidFill>
          <a:ln w="22384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仿真日志</a:t>
            </a:r>
          </a:p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880" b="0">
                <a:solidFill>
                  <a:srgbClr val="000000"/>
                </a:solidFill>
              </a:rPr>
              <a:t>sim_log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556500" y="5181750"/>
            <a:ext cx="846000" cy="1438199"/>
          </a:xfrm>
          <a:prstGeom prst="line">
            <a:avLst/>
          </a:prstGeom>
          <a:ln w="26860">
            <a:solidFill>
              <a:srgbClr val="5D6D7E"/>
            </a:solidFill>
            <a:headEnd type="triangle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6556500" y="5763375"/>
            <a:ext cx="846000" cy="2083275"/>
          </a:xfrm>
          <a:prstGeom prst="line">
            <a:avLst/>
          </a:prstGeom>
          <a:ln w="26860">
            <a:solidFill>
              <a:srgbClr val="5D6D7E"/>
            </a:solidFill>
            <a:headEnd type="triangle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556500" y="10617300"/>
            <a:ext cx="846000" cy="896760"/>
          </a:xfrm>
          <a:prstGeom prst="line">
            <a:avLst/>
          </a:prstGeom>
          <a:ln w="26860">
            <a:solidFill>
              <a:srgbClr val="5D6D7E"/>
            </a:solidFill>
            <a:headEnd type="triangle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556500" y="10397340"/>
            <a:ext cx="846000" cy="2990610"/>
          </a:xfrm>
          <a:prstGeom prst="line">
            <a:avLst/>
          </a:prstGeom>
          <a:ln w="26860">
            <a:solidFill>
              <a:srgbClr val="5D6D7E"/>
            </a:solidFill>
            <a:headEnd type="triangle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556500" y="9280619"/>
            <a:ext cx="846000" cy="6772231"/>
          </a:xfrm>
          <a:prstGeom prst="line">
            <a:avLst/>
          </a:prstGeom>
          <a:ln w="26860">
            <a:solidFill>
              <a:srgbClr val="5D6D7E"/>
            </a:solidFill>
            <a:headEnd type="triangle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6556500" y="16962300"/>
            <a:ext cx="846000" cy="4631850"/>
          </a:xfrm>
          <a:prstGeom prst="line">
            <a:avLst/>
          </a:prstGeom>
          <a:ln w="26860">
            <a:solidFill>
              <a:srgbClr val="5D6D7E"/>
            </a:solidFill>
            <a:headEnd type="triangle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556500" y="8256960"/>
            <a:ext cx="846000" cy="10566540"/>
          </a:xfrm>
          <a:prstGeom prst="line">
            <a:avLst/>
          </a:prstGeom>
          <a:ln w="29845">
            <a:solidFill>
              <a:srgbClr val="C0392B"/>
            </a:solidFill>
            <a:prstDash val="dash"/>
            <a:headEnd type="triangle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287500" y="7622460"/>
            <a:ext cx="1903500" cy="634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45" i="1">
                <a:solidFill>
                  <a:srgbClr val="C0392B"/>
                </a:solidFill>
              </a:rPr>
              <a:t>误差注入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15016500" y="5181750"/>
            <a:ext cx="846000" cy="7169850"/>
          </a:xfrm>
          <a:prstGeom prst="line">
            <a:avLst/>
          </a:prstGeom>
          <a:ln w="26860">
            <a:solidFill>
              <a:srgbClr val="5D6D7E"/>
            </a:solidFill>
            <a:headEnd type="triangle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5016500" y="7931250"/>
            <a:ext cx="846000" cy="9031050"/>
          </a:xfrm>
          <a:prstGeom prst="line">
            <a:avLst/>
          </a:prstGeom>
          <a:ln w="26860">
            <a:solidFill>
              <a:srgbClr val="5D6D7E"/>
            </a:solidFill>
            <a:headEnd type="triangle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5016500" y="10680750"/>
            <a:ext cx="846000" cy="17533350"/>
          </a:xfrm>
          <a:prstGeom prst="line">
            <a:avLst/>
          </a:prstGeom>
          <a:ln w="26860">
            <a:solidFill>
              <a:srgbClr val="5D6D7E"/>
            </a:solidFill>
            <a:headEnd type="triangle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5016500" y="13430250"/>
            <a:ext cx="846000" cy="13705200"/>
          </a:xfrm>
          <a:prstGeom prst="line">
            <a:avLst/>
          </a:prstGeom>
          <a:ln w="26860">
            <a:solidFill>
              <a:srgbClr val="5D6D7E"/>
            </a:solidFill>
            <a:headEnd type="triangle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5016500" y="16179750"/>
            <a:ext cx="846000" cy="9877050"/>
          </a:xfrm>
          <a:prstGeom prst="line">
            <a:avLst/>
          </a:prstGeom>
          <a:ln w="26860">
            <a:solidFill>
              <a:srgbClr val="5D6D7E"/>
            </a:solidFill>
            <a:headEnd type="triangle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5016500" y="18929250"/>
            <a:ext cx="846000" cy="5689350"/>
          </a:xfrm>
          <a:prstGeom prst="line">
            <a:avLst/>
          </a:prstGeom>
          <a:ln w="26860">
            <a:solidFill>
              <a:srgbClr val="5D6D7E"/>
            </a:solidFill>
            <a:headEnd type="triangle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423000" y="29271600"/>
            <a:ext cx="2752521" cy="1184399"/>
          </a:xfrm>
          <a:prstGeom prst="roundRect">
            <a:avLst>
              <a:gd name="adj" fmla="val 16667"/>
            </a:avLst>
          </a:prstGeom>
          <a:solidFill>
            <a:srgbClr val="D6EAF8"/>
          </a:solidFill>
          <a:ln w="14922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645" b="0">
                <a:solidFill>
                  <a:srgbClr val="000000"/>
                </a:solidFill>
              </a:rPr>
              <a:t>模型输入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23571" y="29271600"/>
            <a:ext cx="2752521" cy="1184399"/>
          </a:xfrm>
          <a:prstGeom prst="roundRect">
            <a:avLst>
              <a:gd name="adj" fmla="val 16667"/>
            </a:avLst>
          </a:prstGeom>
          <a:solidFill>
            <a:srgbClr val="D5F5E3"/>
          </a:solidFill>
          <a:ln w="14922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645" b="0">
                <a:solidFill>
                  <a:srgbClr val="000000"/>
                </a:solidFill>
              </a:rPr>
              <a:t>发射生成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24142" y="29271600"/>
            <a:ext cx="2752521" cy="1184399"/>
          </a:xfrm>
          <a:prstGeom prst="roundRect">
            <a:avLst>
              <a:gd name="adj" fmla="val 16667"/>
            </a:avLst>
          </a:prstGeom>
          <a:solidFill>
            <a:srgbClr val="FDEBD0"/>
          </a:solidFill>
          <a:ln w="14922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645" b="0">
                <a:solidFill>
                  <a:srgbClr val="000000"/>
                </a:solidFill>
              </a:rPr>
              <a:t>相参合成核心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24714" y="29271600"/>
            <a:ext cx="2752521" cy="1184399"/>
          </a:xfrm>
          <a:prstGeom prst="roundRect">
            <a:avLst>
              <a:gd name="adj" fmla="val 16667"/>
            </a:avLst>
          </a:prstGeom>
          <a:solidFill>
            <a:srgbClr val="F9EBEA"/>
          </a:solidFill>
          <a:ln w="14922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645" b="0">
                <a:solidFill>
                  <a:srgbClr val="000000"/>
                </a:solidFill>
              </a:rPr>
              <a:t>检测/定位/融合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025285" y="29271600"/>
            <a:ext cx="2752521" cy="1184399"/>
          </a:xfrm>
          <a:prstGeom prst="roundRect">
            <a:avLst>
              <a:gd name="adj" fmla="val 16667"/>
            </a:avLst>
          </a:prstGeom>
          <a:solidFill>
            <a:srgbClr val="EAF0FB"/>
          </a:solidFill>
          <a:ln w="14922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645" b="0">
                <a:solidFill>
                  <a:srgbClr val="000000"/>
                </a:solidFill>
              </a:rPr>
              <a:t>Kalman跟踪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4925857" y="29271600"/>
            <a:ext cx="2752521" cy="1184399"/>
          </a:xfrm>
          <a:prstGeom prst="roundRect">
            <a:avLst>
              <a:gd name="adj" fmla="val 16667"/>
            </a:avLst>
          </a:prstGeom>
          <a:solidFill>
            <a:srgbClr val="EBF5FB"/>
          </a:solidFill>
          <a:ln w="14922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645" b="0">
                <a:solidFill>
                  <a:srgbClr val="000000"/>
                </a:solidFill>
              </a:rPr>
              <a:t>模型输出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7826428" y="29271600"/>
            <a:ext cx="2752521" cy="1184399"/>
          </a:xfrm>
          <a:prstGeom prst="roundRect">
            <a:avLst>
              <a:gd name="adj" fmla="val 16667"/>
            </a:avLst>
          </a:prstGeom>
          <a:solidFill>
            <a:srgbClr val="FDEDEC"/>
          </a:solidFill>
          <a:ln w="14922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35"/>
              </a:spcBef>
              <a:spcAft>
                <a:spcPts val="235"/>
              </a:spcAft>
            </a:pPr>
            <a:r>
              <a:rPr sz="1645" b="0">
                <a:solidFill>
                  <a:srgbClr val="000000"/>
                </a:solidFill>
              </a:rPr>
              <a:t>误差配置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